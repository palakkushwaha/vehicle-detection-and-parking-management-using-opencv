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4630400" cy="8229600"/>
  <p:notesSz cx="8229600" cy="14630400"/>
  <p:embeddedFontLst>
    <p:embeddedFont>
      <p:font typeface="IBM Plex Sans Medium"/>
      <p:regular r:id="rId15"/>
    </p:embeddedFont>
    <p:embeddedFont>
      <p:font typeface="IBM Plex Sans Medium"/>
      <p:regular r:id="rId16"/>
    </p:embeddedFont>
    <p:embeddedFont>
      <p:font typeface="IBM Plex Sans Medium"/>
      <p:regular r:id="rId17"/>
    </p:embeddedFont>
    <p:embeddedFont>
      <p:font typeface="IBM Plex Sans Medium"/>
      <p:regular r:id="rId18"/>
    </p:embeddedFont>
    <p:embeddedFont>
      <p:font typeface="Roboto"/>
      <p:regular r:id="rId19"/>
    </p:embeddedFont>
    <p:embeddedFont>
      <p:font typeface="Roboto"/>
      <p:regular r:id="rId20"/>
    </p:embeddedFont>
    <p:embeddedFont>
      <p:font typeface="Roboto"/>
      <p:regular r:id="rId21"/>
    </p:embeddedFont>
    <p:embeddedFont>
      <p:font typeface="Roboto"/>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font" Target="fonts/font1.fntdata"/><Relationship Id="rId16" Type="http://schemas.openxmlformats.org/officeDocument/2006/relationships/font" Target="fonts/font2.fntdata"/><Relationship Id="rId17" Type="http://schemas.openxmlformats.org/officeDocument/2006/relationships/font" Target="fonts/font3.fntdata"/><Relationship Id="rId18" Type="http://schemas.openxmlformats.org/officeDocument/2006/relationships/font" Target="fonts/font4.fntdata"/><Relationship Id="rId19" Type="http://schemas.openxmlformats.org/officeDocument/2006/relationships/font" Target="fonts/font5.fntdata"/><Relationship Id="rId20" Type="http://schemas.openxmlformats.org/officeDocument/2006/relationships/font" Target="fonts/font6.fntdata"/><Relationship Id="rId21" Type="http://schemas.openxmlformats.org/officeDocument/2006/relationships/font" Target="fonts/font7.fntdata"/><Relationship Id="rId22"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7.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510076"/>
            <a:ext cx="7556421" cy="1417558"/>
          </a:xfrm>
          <a:prstGeom prst="rect">
            <a:avLst/>
          </a:prstGeom>
          <a:noFill/>
          <a:ln/>
        </p:spPr>
        <p:txBody>
          <a:bodyPr wrap="square" lIns="0" tIns="0" rIns="0" bIns="0" rtlCol="0" anchor="t"/>
          <a:lstStyle/>
          <a:p>
            <a:pPr algn="l" indent="0" marL="0">
              <a:lnSpc>
                <a:spcPts val="5550"/>
              </a:lnSpc>
              <a:buNone/>
            </a:pPr>
            <a:r>
              <a:rPr lang="en-US" sz="4450" dirty="0">
                <a:solidFill>
                  <a:srgbClr val="F3F3F2"/>
                </a:solidFill>
                <a:latin typeface="IBM Plex Sans Medium" pitchFamily="34" charset="0"/>
                <a:ea typeface="IBM Plex Sans Medium" pitchFamily="34" charset="-122"/>
                <a:cs typeface="IBM Plex Sans Medium" pitchFamily="34" charset="-120"/>
              </a:rPr>
              <a:t>Parking Management with OpenCV</a:t>
            </a:r>
            <a:endParaRPr lang="en-US" sz="4450" dirty="0"/>
          </a:p>
        </p:txBody>
      </p:sp>
      <p:sp>
        <p:nvSpPr>
          <p:cNvPr id="4" name="Text 1"/>
          <p:cNvSpPr/>
          <p:nvPr/>
        </p:nvSpPr>
        <p:spPr>
          <a:xfrm>
            <a:off x="793790" y="4267795"/>
            <a:ext cx="7556421" cy="1451610"/>
          </a:xfrm>
          <a:prstGeom prst="rect">
            <a:avLst/>
          </a:prstGeom>
          <a:noFill/>
          <a:ln/>
        </p:spPr>
        <p:txBody>
          <a:bodyPr wrap="square" lIns="0" tIns="0" rIns="0" bIns="0" rtlCol="0" anchor="t"/>
          <a:lstStyle/>
          <a:p>
            <a:pPr algn="l" indent="0" marL="0">
              <a:lnSpc>
                <a:spcPts val="2850"/>
              </a:lnSpc>
              <a:buNone/>
            </a:pPr>
            <a:r>
              <a:rPr lang="en-US" sz="1750" dirty="0">
                <a:solidFill>
                  <a:srgbClr val="D4D4D1"/>
                </a:solidFill>
                <a:latin typeface="Roboto" pitchFamily="34" charset="0"/>
                <a:ea typeface="Roboto" pitchFamily="34" charset="-122"/>
                <a:cs typeface="Roboto" pitchFamily="34" charset="-120"/>
              </a:rPr>
              <a:t>Urban areas face traffic congestion and inefficient parking usage. Traditional parking systems are costly and unreliable. Our solution uses OpenCV and Python for dynamic vehicle detection and slot management without expensive sensors or GPUs.</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319814"/>
          </a:xfrm>
          <a:prstGeom prst="rect">
            <a:avLst/>
          </a:prstGeom>
        </p:spPr>
      </p:pic>
      <p:sp>
        <p:nvSpPr>
          <p:cNvPr id="3" name="Text 0"/>
          <p:cNvSpPr/>
          <p:nvPr/>
        </p:nvSpPr>
        <p:spPr>
          <a:xfrm>
            <a:off x="649486" y="3126819"/>
            <a:ext cx="6423184" cy="579953"/>
          </a:xfrm>
          <a:prstGeom prst="rect">
            <a:avLst/>
          </a:prstGeom>
          <a:noFill/>
          <a:ln/>
        </p:spPr>
        <p:txBody>
          <a:bodyPr wrap="none" lIns="0" tIns="0" rIns="0" bIns="0" rtlCol="0" anchor="t"/>
          <a:lstStyle/>
          <a:p>
            <a:pPr algn="l" indent="0" marL="0">
              <a:lnSpc>
                <a:spcPts val="4550"/>
              </a:lnSpc>
              <a:buNone/>
            </a:pPr>
            <a:r>
              <a:rPr lang="en-US" sz="3650" dirty="0">
                <a:solidFill>
                  <a:srgbClr val="F3F3F2"/>
                </a:solidFill>
                <a:latin typeface="IBM Plex Sans Medium" pitchFamily="34" charset="0"/>
                <a:ea typeface="IBM Plex Sans Medium" pitchFamily="34" charset="-122"/>
                <a:cs typeface="IBM Plex Sans Medium" pitchFamily="34" charset="-120"/>
              </a:rPr>
              <a:t>System Architecture Overview</a:t>
            </a:r>
            <a:endParaRPr lang="en-US" sz="3650" dirty="0"/>
          </a:p>
        </p:txBody>
      </p:sp>
      <p:sp>
        <p:nvSpPr>
          <p:cNvPr id="4" name="Shape 1"/>
          <p:cNvSpPr/>
          <p:nvPr/>
        </p:nvSpPr>
        <p:spPr>
          <a:xfrm>
            <a:off x="649486" y="3985141"/>
            <a:ext cx="6572964" cy="1373148"/>
          </a:xfrm>
          <a:prstGeom prst="roundRect">
            <a:avLst>
              <a:gd name="adj" fmla="val 2027"/>
            </a:avLst>
          </a:prstGeom>
          <a:solidFill>
            <a:srgbClr val="484B51"/>
          </a:solidFill>
          <a:ln/>
        </p:spPr>
      </p:sp>
      <p:sp>
        <p:nvSpPr>
          <p:cNvPr id="5" name="Text 2"/>
          <p:cNvSpPr/>
          <p:nvPr/>
        </p:nvSpPr>
        <p:spPr>
          <a:xfrm>
            <a:off x="834985" y="4170640"/>
            <a:ext cx="2319814" cy="289917"/>
          </a:xfrm>
          <a:prstGeom prst="rect">
            <a:avLst/>
          </a:prstGeom>
          <a:noFill/>
          <a:ln/>
        </p:spPr>
        <p:txBody>
          <a:bodyPr wrap="none" lIns="0" tIns="0" rIns="0" bIns="0" rtlCol="0" anchor="t"/>
          <a:lstStyle/>
          <a:p>
            <a:pPr algn="l" indent="0" marL="0">
              <a:lnSpc>
                <a:spcPts val="2250"/>
              </a:lnSpc>
              <a:buNone/>
            </a:pPr>
            <a:r>
              <a:rPr lang="en-US" sz="1800" dirty="0">
                <a:solidFill>
                  <a:srgbClr val="D4D4D1"/>
                </a:solidFill>
                <a:latin typeface="IBM Plex Sans Medium" pitchFamily="34" charset="0"/>
                <a:ea typeface="IBM Plex Sans Medium" pitchFamily="34" charset="-122"/>
                <a:cs typeface="IBM Plex Sans Medium" pitchFamily="34" charset="-120"/>
              </a:rPr>
              <a:t>Vehicle  Detection</a:t>
            </a:r>
            <a:endParaRPr lang="en-US" sz="1800" dirty="0"/>
          </a:p>
        </p:txBody>
      </p:sp>
      <p:sp>
        <p:nvSpPr>
          <p:cNvPr id="6" name="Text 3"/>
          <p:cNvSpPr/>
          <p:nvPr/>
        </p:nvSpPr>
        <p:spPr>
          <a:xfrm>
            <a:off x="834985" y="4571881"/>
            <a:ext cx="6201966" cy="296942"/>
          </a:xfrm>
          <a:prstGeom prst="rect">
            <a:avLst/>
          </a:prstGeom>
          <a:noFill/>
          <a:ln/>
        </p:spPr>
        <p:txBody>
          <a:bodyPr wrap="none" lIns="0" tIns="0" rIns="0" bIns="0" rtlCol="0" anchor="t"/>
          <a:lstStyle/>
          <a:p>
            <a:pPr algn="l" indent="0" marL="0">
              <a:lnSpc>
                <a:spcPts val="2300"/>
              </a:lnSpc>
              <a:buNone/>
            </a:pPr>
            <a:r>
              <a:rPr lang="en-US" sz="1450" dirty="0">
                <a:solidFill>
                  <a:srgbClr val="D4D4D1"/>
                </a:solidFill>
                <a:latin typeface="Roboto" pitchFamily="34" charset="0"/>
                <a:ea typeface="Roboto" pitchFamily="34" charset="-122"/>
                <a:cs typeface="Roboto" pitchFamily="34" charset="-120"/>
              </a:rPr>
              <a:t>Cameras capture and provide vehicle image.</a:t>
            </a:r>
            <a:endParaRPr lang="en-US" sz="1450" dirty="0"/>
          </a:p>
        </p:txBody>
      </p:sp>
      <p:sp>
        <p:nvSpPr>
          <p:cNvPr id="7" name="Shape 4"/>
          <p:cNvSpPr/>
          <p:nvPr/>
        </p:nvSpPr>
        <p:spPr>
          <a:xfrm>
            <a:off x="7407950" y="3985141"/>
            <a:ext cx="6572964" cy="1373148"/>
          </a:xfrm>
          <a:prstGeom prst="roundRect">
            <a:avLst>
              <a:gd name="adj" fmla="val 2027"/>
            </a:avLst>
          </a:prstGeom>
          <a:solidFill>
            <a:srgbClr val="484B51"/>
          </a:solidFill>
          <a:ln/>
        </p:spPr>
      </p:sp>
      <p:sp>
        <p:nvSpPr>
          <p:cNvPr id="8" name="Text 5"/>
          <p:cNvSpPr/>
          <p:nvPr/>
        </p:nvSpPr>
        <p:spPr>
          <a:xfrm>
            <a:off x="7593449" y="4170640"/>
            <a:ext cx="6201966" cy="296942"/>
          </a:xfrm>
          <a:prstGeom prst="rect">
            <a:avLst/>
          </a:prstGeom>
          <a:noFill/>
          <a:ln/>
        </p:spPr>
        <p:txBody>
          <a:bodyPr wrap="none" lIns="0" tIns="0" rIns="0" bIns="0" rtlCol="0" anchor="t"/>
          <a:lstStyle/>
          <a:p>
            <a:pPr algn="l" indent="0" marL="0">
              <a:lnSpc>
                <a:spcPts val="2300"/>
              </a:lnSpc>
              <a:buNone/>
            </a:pPr>
            <a:r>
              <a:rPr lang="en-US" sz="1450" b="1" dirty="0">
                <a:solidFill>
                  <a:srgbClr val="D4D4D1"/>
                </a:solidFill>
                <a:latin typeface="Roboto" pitchFamily="34" charset="0"/>
                <a:ea typeface="Roboto" pitchFamily="34" charset="-122"/>
                <a:cs typeface="Roboto" pitchFamily="34" charset="-120"/>
              </a:rPr>
              <a:t>Noise Reduction:</a:t>
            </a:r>
            <a:endParaRPr lang="en-US" sz="1450" dirty="0"/>
          </a:p>
        </p:txBody>
      </p:sp>
      <p:sp>
        <p:nvSpPr>
          <p:cNvPr id="9" name="Text 6"/>
          <p:cNvSpPr/>
          <p:nvPr/>
        </p:nvSpPr>
        <p:spPr>
          <a:xfrm>
            <a:off x="7593449" y="4578906"/>
            <a:ext cx="6201966" cy="593884"/>
          </a:xfrm>
          <a:prstGeom prst="rect">
            <a:avLst/>
          </a:prstGeom>
          <a:noFill/>
          <a:ln/>
        </p:spPr>
        <p:txBody>
          <a:bodyPr wrap="square" lIns="0" tIns="0" rIns="0" bIns="0" rtlCol="0" anchor="t"/>
          <a:lstStyle/>
          <a:p>
            <a:pPr algn="l" indent="0" marL="0">
              <a:lnSpc>
                <a:spcPts val="2300"/>
              </a:lnSpc>
              <a:buNone/>
            </a:pPr>
            <a:r>
              <a:rPr lang="en-US" sz="1450" b="1" dirty="0">
                <a:solidFill>
                  <a:srgbClr val="D4D4D1"/>
                </a:solidFill>
                <a:latin typeface="Roboto" pitchFamily="34" charset="0"/>
                <a:ea typeface="Roboto" pitchFamily="34" charset="-122"/>
                <a:cs typeface="Roboto" pitchFamily="34" charset="-120"/>
              </a:rPr>
              <a:t>Gaussian blur</a:t>
            </a:r>
            <a:pPr algn="l" indent="0" marL="0">
              <a:lnSpc>
                <a:spcPts val="2300"/>
              </a:lnSpc>
              <a:buNone/>
            </a:pPr>
            <a:r>
              <a:rPr lang="en-US" sz="1450" dirty="0">
                <a:solidFill>
                  <a:srgbClr val="D4D4D1"/>
                </a:solidFill>
                <a:latin typeface="Roboto" pitchFamily="34" charset="0"/>
                <a:ea typeface="Roboto" pitchFamily="34" charset="-122"/>
                <a:cs typeface="Roboto" pitchFamily="34" charset="-120"/>
              </a:rPr>
              <a:t> is applied using cv2.GaussianBlur(). This technique helps to eliminate high-frequency noise</a:t>
            </a:r>
            <a:endParaRPr lang="en-US" sz="1450" dirty="0"/>
          </a:p>
        </p:txBody>
      </p:sp>
      <p:sp>
        <p:nvSpPr>
          <p:cNvPr id="10" name="Shape 7"/>
          <p:cNvSpPr/>
          <p:nvPr/>
        </p:nvSpPr>
        <p:spPr>
          <a:xfrm>
            <a:off x="649486" y="5543788"/>
            <a:ext cx="6572964" cy="1373148"/>
          </a:xfrm>
          <a:prstGeom prst="roundRect">
            <a:avLst>
              <a:gd name="adj" fmla="val 2027"/>
            </a:avLst>
          </a:prstGeom>
          <a:solidFill>
            <a:srgbClr val="484B51"/>
          </a:solidFill>
          <a:ln/>
        </p:spPr>
      </p:sp>
      <p:sp>
        <p:nvSpPr>
          <p:cNvPr id="11" name="Text 8"/>
          <p:cNvSpPr/>
          <p:nvPr/>
        </p:nvSpPr>
        <p:spPr>
          <a:xfrm>
            <a:off x="834985" y="5729288"/>
            <a:ext cx="6201966" cy="296942"/>
          </a:xfrm>
          <a:prstGeom prst="rect">
            <a:avLst/>
          </a:prstGeom>
          <a:noFill/>
          <a:ln/>
        </p:spPr>
        <p:txBody>
          <a:bodyPr wrap="none" lIns="0" tIns="0" rIns="0" bIns="0" rtlCol="0" anchor="t"/>
          <a:lstStyle/>
          <a:p>
            <a:pPr algn="l" indent="0" marL="0">
              <a:lnSpc>
                <a:spcPts val="2300"/>
              </a:lnSpc>
              <a:buNone/>
            </a:pPr>
            <a:r>
              <a:rPr lang="en-US" sz="1450" b="1" dirty="0">
                <a:solidFill>
                  <a:srgbClr val="D4D4D1"/>
                </a:solidFill>
                <a:latin typeface="Roboto" pitchFamily="34" charset="0"/>
                <a:ea typeface="Roboto" pitchFamily="34" charset="-122"/>
                <a:cs typeface="Roboto" pitchFamily="34" charset="-120"/>
              </a:rPr>
              <a:t>Grayscale Conversion:</a:t>
            </a:r>
            <a:endParaRPr lang="en-US" sz="1450" dirty="0"/>
          </a:p>
        </p:txBody>
      </p:sp>
      <p:sp>
        <p:nvSpPr>
          <p:cNvPr id="12" name="Text 9"/>
          <p:cNvSpPr/>
          <p:nvPr/>
        </p:nvSpPr>
        <p:spPr>
          <a:xfrm>
            <a:off x="834985" y="6137553"/>
            <a:ext cx="6201966" cy="593884"/>
          </a:xfrm>
          <a:prstGeom prst="rect">
            <a:avLst/>
          </a:prstGeom>
          <a:noFill/>
          <a:ln/>
        </p:spPr>
        <p:txBody>
          <a:bodyPr wrap="square" lIns="0" tIns="0" rIns="0" bIns="0" rtlCol="0" anchor="t"/>
          <a:lstStyle/>
          <a:p>
            <a:pPr algn="l" indent="0" marL="0">
              <a:lnSpc>
                <a:spcPts val="2300"/>
              </a:lnSpc>
              <a:buNone/>
            </a:pPr>
            <a:r>
              <a:rPr lang="en-US" sz="1450" dirty="0">
                <a:solidFill>
                  <a:srgbClr val="D4D4D1"/>
                </a:solidFill>
                <a:latin typeface="Roboto" pitchFamily="34" charset="0"/>
                <a:ea typeface="Roboto" pitchFamily="34" charset="-122"/>
                <a:cs typeface="Roboto" pitchFamily="34" charset="-120"/>
              </a:rPr>
              <a:t>The first step in image processing is converting the input image into grayscale using the cv2.cvtColor() function.</a:t>
            </a:r>
            <a:endParaRPr lang="en-US" sz="1450" dirty="0"/>
          </a:p>
        </p:txBody>
      </p:sp>
      <p:sp>
        <p:nvSpPr>
          <p:cNvPr id="13" name="Shape 10"/>
          <p:cNvSpPr/>
          <p:nvPr/>
        </p:nvSpPr>
        <p:spPr>
          <a:xfrm>
            <a:off x="7407950" y="5543788"/>
            <a:ext cx="6572964" cy="1373148"/>
          </a:xfrm>
          <a:prstGeom prst="roundRect">
            <a:avLst>
              <a:gd name="adj" fmla="val 2027"/>
            </a:avLst>
          </a:prstGeom>
          <a:solidFill>
            <a:srgbClr val="484B51"/>
          </a:solidFill>
          <a:ln/>
        </p:spPr>
      </p:sp>
      <p:sp>
        <p:nvSpPr>
          <p:cNvPr id="14" name="Text 11"/>
          <p:cNvSpPr/>
          <p:nvPr/>
        </p:nvSpPr>
        <p:spPr>
          <a:xfrm>
            <a:off x="7593449" y="5729288"/>
            <a:ext cx="6201966" cy="296942"/>
          </a:xfrm>
          <a:prstGeom prst="rect">
            <a:avLst/>
          </a:prstGeom>
          <a:noFill/>
          <a:ln/>
        </p:spPr>
        <p:txBody>
          <a:bodyPr wrap="none" lIns="0" tIns="0" rIns="0" bIns="0" rtlCol="0" anchor="t"/>
          <a:lstStyle/>
          <a:p>
            <a:pPr algn="l" indent="0" marL="0">
              <a:lnSpc>
                <a:spcPts val="2300"/>
              </a:lnSpc>
              <a:buNone/>
            </a:pPr>
            <a:r>
              <a:rPr lang="en-US" sz="1450" b="1" dirty="0">
                <a:solidFill>
                  <a:srgbClr val="D4D4D1"/>
                </a:solidFill>
                <a:latin typeface="Roboto" pitchFamily="34" charset="0"/>
                <a:ea typeface="Roboto" pitchFamily="34" charset="-122"/>
                <a:cs typeface="Roboto" pitchFamily="34" charset="-120"/>
              </a:rPr>
              <a:t>Histogram Equalization:</a:t>
            </a:r>
            <a:endParaRPr lang="en-US" sz="1450" dirty="0"/>
          </a:p>
        </p:txBody>
      </p:sp>
      <p:sp>
        <p:nvSpPr>
          <p:cNvPr id="15" name="Text 12"/>
          <p:cNvSpPr/>
          <p:nvPr/>
        </p:nvSpPr>
        <p:spPr>
          <a:xfrm>
            <a:off x="7593449" y="6137553"/>
            <a:ext cx="6201966" cy="593884"/>
          </a:xfrm>
          <a:prstGeom prst="rect">
            <a:avLst/>
          </a:prstGeom>
          <a:noFill/>
          <a:ln/>
        </p:spPr>
        <p:txBody>
          <a:bodyPr wrap="square" lIns="0" tIns="0" rIns="0" bIns="0" rtlCol="0" anchor="t"/>
          <a:lstStyle/>
          <a:p>
            <a:pPr algn="l" indent="0" marL="0">
              <a:lnSpc>
                <a:spcPts val="2300"/>
              </a:lnSpc>
              <a:buNone/>
            </a:pPr>
            <a:r>
              <a:rPr lang="en-US" sz="1450" dirty="0">
                <a:solidFill>
                  <a:srgbClr val="D4D4D1"/>
                </a:solidFill>
                <a:latin typeface="Roboto" pitchFamily="34" charset="0"/>
                <a:ea typeface="Roboto" pitchFamily="34" charset="-122"/>
                <a:cs typeface="Roboto" pitchFamily="34" charset="-120"/>
              </a:rPr>
              <a:t>To further enhance the image quality, especially under varying lighting conditions, histogram equalization is performed using cv2.equalizeHist().</a:t>
            </a:r>
            <a:endParaRPr lang="en-US" sz="1450" dirty="0"/>
          </a:p>
        </p:txBody>
      </p:sp>
      <p:sp>
        <p:nvSpPr>
          <p:cNvPr id="16" name="Text 13"/>
          <p:cNvSpPr/>
          <p:nvPr/>
        </p:nvSpPr>
        <p:spPr>
          <a:xfrm>
            <a:off x="649486" y="7125653"/>
            <a:ext cx="13331428" cy="296942"/>
          </a:xfrm>
          <a:prstGeom prst="rect">
            <a:avLst/>
          </a:prstGeom>
          <a:noFill/>
          <a:ln/>
        </p:spPr>
        <p:txBody>
          <a:bodyPr wrap="none" lIns="0" tIns="0" rIns="0" bIns="0" rtlCol="0" anchor="t"/>
          <a:lstStyle/>
          <a:p>
            <a:pPr algn="l" indent="0" marL="0">
              <a:lnSpc>
                <a:spcPts val="2300"/>
              </a:lnSpc>
              <a:buNone/>
            </a:pPr>
            <a:r>
              <a:rPr lang="en-US" sz="1450" dirty="0">
                <a:solidFill>
                  <a:srgbClr val="D4D4D1"/>
                </a:solidFill>
                <a:latin typeface="Roboto" pitchFamily="34" charset="0"/>
                <a:ea typeface="Roboto" pitchFamily="34" charset="-122"/>
                <a:cs typeface="Roboto" pitchFamily="34" charset="-120"/>
              </a:rPr>
              <a:t>Implemented with Python, OpenCV, and efficient data structures like </a:t>
            </a:r>
            <a:pPr algn="l" indent="0" marL="0">
              <a:lnSpc>
                <a:spcPts val="2300"/>
              </a:lnSpc>
              <a:buNone/>
            </a:pPr>
            <a:r>
              <a:rPr lang="en-US" sz="1450" b="1" dirty="0">
                <a:solidFill>
                  <a:srgbClr val="D4D4D1"/>
                </a:solidFill>
                <a:latin typeface="Roboto" pitchFamily="34" charset="0"/>
                <a:ea typeface="Roboto" pitchFamily="34" charset="-122"/>
                <a:cs typeface="Roboto" pitchFamily="34" charset="-120"/>
              </a:rPr>
              <a:t>Grayscale Conversion,Histogram Equalization,</a:t>
            </a:r>
            <a:pPr algn="l" indent="0" marL="0">
              <a:lnSpc>
                <a:spcPts val="2300"/>
              </a:lnSpc>
              <a:buNone/>
            </a:pPr>
            <a:r>
              <a:rPr lang="en-US" sz="1450" dirty="0">
                <a:solidFill>
                  <a:srgbClr val="D4D4D1"/>
                </a:solidFill>
                <a:latin typeface="Roboto" pitchFamily="34" charset="0"/>
                <a:ea typeface="Roboto" pitchFamily="34" charset="-122"/>
                <a:cs typeface="Roboto" pitchFamily="34" charset="-120"/>
              </a:rPr>
              <a:t>ORB (Oriented FAST and Rotated BRIEF.</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059061"/>
            <a:ext cx="6599039" cy="708779"/>
          </a:xfrm>
          <a:prstGeom prst="rect">
            <a:avLst/>
          </a:prstGeom>
          <a:noFill/>
          <a:ln/>
        </p:spPr>
        <p:txBody>
          <a:bodyPr wrap="none" lIns="0" tIns="0" rIns="0" bIns="0" rtlCol="0" anchor="t"/>
          <a:lstStyle/>
          <a:p>
            <a:pPr algn="l" indent="0" marL="0">
              <a:lnSpc>
                <a:spcPts val="5550"/>
              </a:lnSpc>
              <a:buNone/>
            </a:pPr>
            <a:r>
              <a:rPr lang="en-US" sz="4450" dirty="0">
                <a:solidFill>
                  <a:srgbClr val="F3F3F2"/>
                </a:solidFill>
                <a:latin typeface="IBM Plex Sans Medium" pitchFamily="34" charset="0"/>
                <a:ea typeface="IBM Plex Sans Medium" pitchFamily="34" charset="-122"/>
                <a:cs typeface="IBM Plex Sans Medium" pitchFamily="34" charset="-120"/>
              </a:rPr>
              <a:t>Vehicle Detection Module</a:t>
            </a:r>
            <a:endParaRPr lang="en-US" sz="4450" dirty="0"/>
          </a:p>
        </p:txBody>
      </p:sp>
      <p:sp>
        <p:nvSpPr>
          <p:cNvPr id="4" name="Shape 1"/>
          <p:cNvSpPr/>
          <p:nvPr/>
        </p:nvSpPr>
        <p:spPr>
          <a:xfrm>
            <a:off x="793790" y="2108002"/>
            <a:ext cx="170021" cy="853321"/>
          </a:xfrm>
          <a:prstGeom prst="roundRect">
            <a:avLst>
              <a:gd name="adj" fmla="val 20012"/>
            </a:avLst>
          </a:prstGeom>
          <a:solidFill>
            <a:srgbClr val="484B51"/>
          </a:solidFill>
          <a:ln/>
        </p:spPr>
      </p:sp>
      <p:sp>
        <p:nvSpPr>
          <p:cNvPr id="5" name="Text 2"/>
          <p:cNvSpPr/>
          <p:nvPr/>
        </p:nvSpPr>
        <p:spPr>
          <a:xfrm>
            <a:off x="1303973" y="2108002"/>
            <a:ext cx="3289697" cy="354330"/>
          </a:xfrm>
          <a:prstGeom prst="rect">
            <a:avLst/>
          </a:prstGeom>
          <a:noFill/>
          <a:ln/>
        </p:spPr>
        <p:txBody>
          <a:bodyPr wrap="none" lIns="0" tIns="0" rIns="0" bIns="0" rtlCol="0" anchor="t"/>
          <a:lstStyle/>
          <a:p>
            <a:pPr algn="l" indent="0" marL="0">
              <a:lnSpc>
                <a:spcPts val="2750"/>
              </a:lnSpc>
              <a:buNone/>
            </a:pPr>
            <a:r>
              <a:rPr lang="en-US" sz="2200" dirty="0">
                <a:solidFill>
                  <a:srgbClr val="D4D4D1"/>
                </a:solidFill>
                <a:latin typeface="IBM Plex Sans Medium" pitchFamily="34" charset="0"/>
                <a:ea typeface="IBM Plex Sans Medium" pitchFamily="34" charset="-122"/>
                <a:cs typeface="IBM Plex Sans Medium" pitchFamily="34" charset="-120"/>
              </a:rPr>
              <a:t>Image and Video Capture</a:t>
            </a:r>
            <a:endParaRPr lang="en-US" sz="2200" dirty="0"/>
          </a:p>
        </p:txBody>
      </p:sp>
      <p:sp>
        <p:nvSpPr>
          <p:cNvPr id="6" name="Text 3"/>
          <p:cNvSpPr/>
          <p:nvPr/>
        </p:nvSpPr>
        <p:spPr>
          <a:xfrm>
            <a:off x="1303973" y="2598420"/>
            <a:ext cx="7046238" cy="362903"/>
          </a:xfrm>
          <a:prstGeom prst="rect">
            <a:avLst/>
          </a:prstGeom>
          <a:noFill/>
          <a:ln/>
        </p:spPr>
        <p:txBody>
          <a:bodyPr wrap="none" lIns="0" tIns="0" rIns="0" bIns="0" rtlCol="0" anchor="t"/>
          <a:lstStyle/>
          <a:p>
            <a:pPr algn="l" indent="0" marL="0">
              <a:lnSpc>
                <a:spcPts val="2850"/>
              </a:lnSpc>
              <a:buNone/>
            </a:pPr>
            <a:r>
              <a:rPr lang="en-US" sz="1750" dirty="0">
                <a:solidFill>
                  <a:srgbClr val="D4D4D1"/>
                </a:solidFill>
                <a:latin typeface="Roboto" pitchFamily="34" charset="0"/>
                <a:ea typeface="Roboto" pitchFamily="34" charset="-122"/>
                <a:cs typeface="Roboto" pitchFamily="34" charset="-120"/>
              </a:rPr>
              <a:t>Uses Vehicle Detection Dataset.</a:t>
            </a:r>
            <a:endParaRPr lang="en-US" sz="1750" dirty="0"/>
          </a:p>
        </p:txBody>
      </p:sp>
      <p:sp>
        <p:nvSpPr>
          <p:cNvPr id="7" name="Shape 4"/>
          <p:cNvSpPr/>
          <p:nvPr/>
        </p:nvSpPr>
        <p:spPr>
          <a:xfrm>
            <a:off x="1133951" y="3188137"/>
            <a:ext cx="170021" cy="1216223"/>
          </a:xfrm>
          <a:prstGeom prst="roundRect">
            <a:avLst>
              <a:gd name="adj" fmla="val 20012"/>
            </a:avLst>
          </a:prstGeom>
          <a:solidFill>
            <a:srgbClr val="484B51"/>
          </a:solidFill>
          <a:ln/>
        </p:spPr>
      </p:sp>
      <p:sp>
        <p:nvSpPr>
          <p:cNvPr id="8" name="Text 5"/>
          <p:cNvSpPr/>
          <p:nvPr/>
        </p:nvSpPr>
        <p:spPr>
          <a:xfrm>
            <a:off x="1644134" y="3188137"/>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D4D4D1"/>
                </a:solidFill>
                <a:latin typeface="IBM Plex Sans Medium" pitchFamily="34" charset="0"/>
                <a:ea typeface="IBM Plex Sans Medium" pitchFamily="34" charset="-122"/>
                <a:cs typeface="IBM Plex Sans Medium" pitchFamily="34" charset="-120"/>
              </a:rPr>
              <a:t>Preprocessing:</a:t>
            </a:r>
            <a:endParaRPr lang="en-US" sz="2200" dirty="0"/>
          </a:p>
        </p:txBody>
      </p:sp>
      <p:sp>
        <p:nvSpPr>
          <p:cNvPr id="9" name="Text 6"/>
          <p:cNvSpPr/>
          <p:nvPr/>
        </p:nvSpPr>
        <p:spPr>
          <a:xfrm>
            <a:off x="1644134" y="3678555"/>
            <a:ext cx="6706076" cy="72580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D4D4D1"/>
                </a:solidFill>
                <a:latin typeface="Roboto" pitchFamily="34" charset="0"/>
                <a:ea typeface="Roboto" pitchFamily="34" charset="-122"/>
                <a:cs typeface="Roboto" pitchFamily="34" charset="-120"/>
              </a:rPr>
              <a:t>Grayscale conversion → Gaussian blur → Histogram equalization</a:t>
            </a:r>
            <a:endParaRPr lang="en-US" sz="1750" dirty="0"/>
          </a:p>
        </p:txBody>
      </p:sp>
      <p:sp>
        <p:nvSpPr>
          <p:cNvPr id="10" name="Shape 7"/>
          <p:cNvSpPr/>
          <p:nvPr/>
        </p:nvSpPr>
        <p:spPr>
          <a:xfrm>
            <a:off x="1474232" y="4631174"/>
            <a:ext cx="170021" cy="1232416"/>
          </a:xfrm>
          <a:prstGeom prst="roundRect">
            <a:avLst>
              <a:gd name="adj" fmla="val 20012"/>
            </a:avLst>
          </a:prstGeom>
          <a:solidFill>
            <a:srgbClr val="484B51"/>
          </a:solidFill>
          <a:ln/>
        </p:spPr>
      </p:sp>
      <p:sp>
        <p:nvSpPr>
          <p:cNvPr id="11" name="Text 8"/>
          <p:cNvSpPr/>
          <p:nvPr/>
        </p:nvSpPr>
        <p:spPr>
          <a:xfrm>
            <a:off x="1984415" y="4631174"/>
            <a:ext cx="6365796" cy="362903"/>
          </a:xfrm>
          <a:prstGeom prst="rect">
            <a:avLst/>
          </a:prstGeom>
          <a:noFill/>
          <a:ln/>
        </p:spPr>
        <p:txBody>
          <a:bodyPr wrap="none" lIns="0" tIns="0" rIns="0" bIns="0" rtlCol="0" anchor="t"/>
          <a:lstStyle/>
          <a:p>
            <a:pPr algn="l" indent="0" marL="0">
              <a:lnSpc>
                <a:spcPts val="2850"/>
              </a:lnSpc>
              <a:buNone/>
            </a:pPr>
            <a:r>
              <a:rPr lang="en-US" sz="1750" b="1" dirty="0">
                <a:solidFill>
                  <a:srgbClr val="D4D4D1"/>
                </a:solidFill>
                <a:latin typeface="Roboto" pitchFamily="34" charset="0"/>
                <a:ea typeface="Roboto" pitchFamily="34" charset="-122"/>
                <a:cs typeface="Roboto" pitchFamily="34" charset="-120"/>
              </a:rPr>
              <a:t>Feature Extraction:</a:t>
            </a:r>
            <a:endParaRPr lang="en-US" sz="1750" dirty="0"/>
          </a:p>
        </p:txBody>
      </p:sp>
      <p:sp>
        <p:nvSpPr>
          <p:cNvPr id="12" name="Text 9"/>
          <p:cNvSpPr/>
          <p:nvPr/>
        </p:nvSpPr>
        <p:spPr>
          <a:xfrm>
            <a:off x="1984415" y="5130165"/>
            <a:ext cx="6365796" cy="733425"/>
          </a:xfrm>
          <a:prstGeom prst="rect">
            <a:avLst/>
          </a:prstGeom>
          <a:noFill/>
          <a:ln/>
        </p:spPr>
        <p:txBody>
          <a:bodyPr wrap="square" lIns="0" tIns="0" rIns="0" bIns="0" rtlCol="0" anchor="t"/>
          <a:lstStyle/>
          <a:p>
            <a:pPr algn="l" lvl="1" marL="685800" indent="-342900">
              <a:lnSpc>
                <a:spcPts val="2850"/>
              </a:lnSpc>
              <a:buSzPct val="100000"/>
              <a:buChar char="•"/>
            </a:pPr>
            <a:r>
              <a:rPr lang="en-US" sz="1750" dirty="0">
                <a:solidFill>
                  <a:srgbClr val="D4D4D1"/>
                </a:solidFill>
                <a:latin typeface="Roboto" pitchFamily="34" charset="0"/>
                <a:ea typeface="Roboto" pitchFamily="34" charset="-122"/>
                <a:cs typeface="Roboto" pitchFamily="34" charset="-120"/>
              </a:rPr>
              <a:t>ORB for keypoints → Perspective correction (optional).</a:t>
            </a:r>
            <a:pPr algn="l" lvl="1" indent="0" marL="0">
              <a:lnSpc>
                <a:spcPts val="2850"/>
              </a:lnSpc>
              <a:buNone/>
            </a:pPr>
            <a:r>
              <a:rPr lang="en-US" sz="1750" dirty="0">
                <a:solidFill>
                  <a:srgbClr val="D4D4D1"/>
                </a:solidFill>
                <a:latin typeface="Roboto" pitchFamily="34" charset="0"/>
                <a:ea typeface="Roboto" pitchFamily="34" charset="-122"/>
                <a:cs typeface="Roboto" pitchFamily="34" charset="-120"/>
              </a:rPr>
              <a:t>
</a:t>
            </a:r>
            <a:pPr algn="l" lvl="1" indent="0" marL="0">
              <a:lnSpc>
                <a:spcPts val="2850"/>
              </a:lnSpc>
              <a:buNone/>
            </a:pPr>
            <a:r>
              <a:rPr lang="en-US" sz="1750" b="1" dirty="0">
                <a:solidFill>
                  <a:srgbClr val="D4D4D1"/>
                </a:solidFill>
                <a:latin typeface="Roboto" pitchFamily="34" charset="0"/>
                <a:ea typeface="Roboto" pitchFamily="34" charset="-122"/>
                <a:cs typeface="Roboto" pitchFamily="34" charset="-120"/>
              </a:rPr>
              <a:t>Edge Detection:</a:t>
            </a:r>
            <a:pPr algn="l" lvl="1" indent="0" marL="0">
              <a:lnSpc>
                <a:spcPts val="2850"/>
              </a:lnSpc>
              <a:buNone/>
            </a:pPr>
            <a:r>
              <a:rPr lang="en-US" sz="1750" dirty="0">
                <a:solidFill>
                  <a:srgbClr val="D4D4D1"/>
                </a:solidFill>
                <a:latin typeface="Roboto" pitchFamily="34" charset="0"/>
                <a:ea typeface="Roboto" pitchFamily="34" charset="-122"/>
                <a:cs typeface="Roboto" pitchFamily="34" charset="-120"/>
              </a:rPr>
              <a:t> Canny edge detection (</a:t>
            </a:r>
            <a:pPr algn="l" lvl="1" indent="0" marL="0">
              <a:lnSpc>
                <a:spcPts val="2850"/>
              </a:lnSpc>
              <a:buNone/>
            </a:pPr>
            <a:r>
              <a:rPr lang="en-US" sz="1750" dirty="0">
                <a:solidFill>
                  <a:srgbClr val="D4D4D1"/>
                </a:solidFill>
                <a:highlight>
                  <a:srgbClr val="4D1F00"/>
                </a:highlight>
                <a:latin typeface="Consolas" pitchFamily="34" charset="0"/>
                <a:ea typeface="Consolas" pitchFamily="34" charset="-122"/>
                <a:cs typeface="Consolas" pitchFamily="34" charset="-120"/>
              </a:rPr>
              <a:t>cv2.Canny</a:t>
            </a:r>
            <a:pPr algn="l" lvl="1" indent="0" marL="0">
              <a:lnSpc>
                <a:spcPts val="2850"/>
              </a:lnSpc>
              <a:buNone/>
            </a:pPr>
            <a:r>
              <a:rPr lang="en-US" sz="1750" dirty="0">
                <a:solidFill>
                  <a:srgbClr val="D4D4D1"/>
                </a:solidFill>
                <a:latin typeface="Roboto" pitchFamily="34" charset="0"/>
                <a:ea typeface="Roboto" pitchFamily="34" charset="-122"/>
                <a:cs typeface="Roboto" pitchFamily="34" charset="-120"/>
              </a:rPr>
              <a:t>).</a:t>
            </a:r>
            <a:endParaRPr lang="en-US" sz="1750" dirty="0"/>
          </a:p>
        </p:txBody>
      </p:sp>
      <p:sp>
        <p:nvSpPr>
          <p:cNvPr id="13" name="Shape 10"/>
          <p:cNvSpPr/>
          <p:nvPr/>
        </p:nvSpPr>
        <p:spPr>
          <a:xfrm>
            <a:off x="1814513" y="6090404"/>
            <a:ext cx="170021" cy="853321"/>
          </a:xfrm>
          <a:prstGeom prst="roundRect">
            <a:avLst>
              <a:gd name="adj" fmla="val 20012"/>
            </a:avLst>
          </a:prstGeom>
          <a:solidFill>
            <a:srgbClr val="484B51"/>
          </a:solidFill>
          <a:ln/>
        </p:spPr>
      </p:sp>
      <p:sp>
        <p:nvSpPr>
          <p:cNvPr id="14" name="Text 11"/>
          <p:cNvSpPr/>
          <p:nvPr/>
        </p:nvSpPr>
        <p:spPr>
          <a:xfrm>
            <a:off x="2324695" y="6090404"/>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D4D4D1"/>
                </a:solidFill>
                <a:latin typeface="IBM Plex Sans Medium" pitchFamily="34" charset="0"/>
                <a:ea typeface="IBM Plex Sans Medium" pitchFamily="34" charset="-122"/>
                <a:cs typeface="IBM Plex Sans Medium" pitchFamily="34" charset="-120"/>
              </a:rPr>
              <a:t>Contour Detection</a:t>
            </a:r>
            <a:endParaRPr lang="en-US" sz="2200" dirty="0"/>
          </a:p>
        </p:txBody>
      </p:sp>
      <p:sp>
        <p:nvSpPr>
          <p:cNvPr id="15" name="Text 12"/>
          <p:cNvSpPr/>
          <p:nvPr/>
        </p:nvSpPr>
        <p:spPr>
          <a:xfrm>
            <a:off x="2324695" y="6580823"/>
            <a:ext cx="6025515" cy="362903"/>
          </a:xfrm>
          <a:prstGeom prst="rect">
            <a:avLst/>
          </a:prstGeom>
          <a:noFill/>
          <a:ln/>
        </p:spPr>
        <p:txBody>
          <a:bodyPr wrap="none" lIns="0" tIns="0" rIns="0" bIns="0" rtlCol="0" anchor="t"/>
          <a:lstStyle/>
          <a:p>
            <a:pPr algn="l" indent="0" marL="0">
              <a:lnSpc>
                <a:spcPts val="2850"/>
              </a:lnSpc>
              <a:buNone/>
            </a:pPr>
            <a:r>
              <a:rPr lang="en-US" sz="1750" dirty="0">
                <a:solidFill>
                  <a:srgbClr val="D4D4D1"/>
                </a:solidFill>
                <a:latin typeface="Roboto" pitchFamily="34" charset="0"/>
                <a:ea typeface="Roboto" pitchFamily="34" charset="-122"/>
                <a:cs typeface="Roboto" pitchFamily="34" charset="-120"/>
              </a:rPr>
              <a:t>Detects vehicle outlines for validation.</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835235"/>
          </a:xfrm>
          <a:prstGeom prst="rect">
            <a:avLst/>
          </a:prstGeom>
        </p:spPr>
      </p:pic>
      <p:sp>
        <p:nvSpPr>
          <p:cNvPr id="3" name="Text 0"/>
          <p:cNvSpPr/>
          <p:nvPr/>
        </p:nvSpPr>
        <p:spPr>
          <a:xfrm>
            <a:off x="793790" y="4272201"/>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F3F3F2"/>
                </a:solidFill>
                <a:latin typeface="IBM Plex Sans Medium" pitchFamily="34" charset="0"/>
                <a:ea typeface="IBM Plex Sans Medium" pitchFamily="34" charset="-122"/>
                <a:cs typeface="IBM Plex Sans Medium" pitchFamily="34" charset="-120"/>
              </a:rPr>
              <a:t>Dataset Description</a:t>
            </a:r>
            <a:endParaRPr lang="en-US" sz="4450" dirty="0"/>
          </a:p>
        </p:txBody>
      </p:sp>
      <p:sp>
        <p:nvSpPr>
          <p:cNvPr id="4" name="Shape 1"/>
          <p:cNvSpPr/>
          <p:nvPr/>
        </p:nvSpPr>
        <p:spPr>
          <a:xfrm>
            <a:off x="793790" y="5576292"/>
            <a:ext cx="510302" cy="510302"/>
          </a:xfrm>
          <a:prstGeom prst="roundRect">
            <a:avLst>
              <a:gd name="adj" fmla="val 6667"/>
            </a:avLst>
          </a:prstGeom>
          <a:solidFill>
            <a:srgbClr val="484B51"/>
          </a:solidFill>
          <a:ln/>
        </p:spPr>
      </p:sp>
      <p:sp>
        <p:nvSpPr>
          <p:cNvPr id="5" name="Text 2"/>
          <p:cNvSpPr/>
          <p:nvPr/>
        </p:nvSpPr>
        <p:spPr>
          <a:xfrm>
            <a:off x="1530906" y="5576292"/>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D4D4D1"/>
                </a:solidFill>
                <a:latin typeface="IBM Plex Sans Medium" pitchFamily="34" charset="0"/>
                <a:ea typeface="IBM Plex Sans Medium" pitchFamily="34" charset="-122"/>
                <a:cs typeface="IBM Plex Sans Medium" pitchFamily="34" charset="-120"/>
              </a:rPr>
              <a:t>Real-World Images</a:t>
            </a:r>
            <a:endParaRPr lang="en-US" sz="2200" dirty="0"/>
          </a:p>
        </p:txBody>
      </p:sp>
      <p:sp>
        <p:nvSpPr>
          <p:cNvPr id="6" name="Text 3"/>
          <p:cNvSpPr/>
          <p:nvPr/>
        </p:nvSpPr>
        <p:spPr>
          <a:xfrm>
            <a:off x="1530906" y="6066711"/>
            <a:ext cx="3459242" cy="725805"/>
          </a:xfrm>
          <a:prstGeom prst="rect">
            <a:avLst/>
          </a:prstGeom>
          <a:noFill/>
          <a:ln/>
        </p:spPr>
        <p:txBody>
          <a:bodyPr wrap="square" lIns="0" tIns="0" rIns="0" bIns="0" rtlCol="0" anchor="t"/>
          <a:lstStyle/>
          <a:p>
            <a:pPr algn="l" indent="0" marL="0">
              <a:lnSpc>
                <a:spcPts val="2850"/>
              </a:lnSpc>
              <a:buNone/>
            </a:pPr>
            <a:r>
              <a:rPr lang="en-US" sz="1750" dirty="0">
                <a:solidFill>
                  <a:srgbClr val="D4D4D1"/>
                </a:solidFill>
                <a:latin typeface="Roboto" pitchFamily="34" charset="0"/>
                <a:ea typeface="Roboto" pitchFamily="34" charset="-122"/>
                <a:cs typeface="Roboto" pitchFamily="34" charset="-120"/>
              </a:rPr>
              <a:t>High-resolution photos for diverse vehicle types.</a:t>
            </a:r>
            <a:endParaRPr lang="en-US" sz="1750" dirty="0"/>
          </a:p>
        </p:txBody>
      </p:sp>
      <p:sp>
        <p:nvSpPr>
          <p:cNvPr id="7" name="Shape 4"/>
          <p:cNvSpPr/>
          <p:nvPr/>
        </p:nvSpPr>
        <p:spPr>
          <a:xfrm>
            <a:off x="5216962" y="5576292"/>
            <a:ext cx="510302" cy="510302"/>
          </a:xfrm>
          <a:prstGeom prst="roundRect">
            <a:avLst>
              <a:gd name="adj" fmla="val 6667"/>
            </a:avLst>
          </a:prstGeom>
          <a:solidFill>
            <a:srgbClr val="484B51"/>
          </a:solidFill>
          <a:ln/>
        </p:spPr>
      </p:sp>
      <p:sp>
        <p:nvSpPr>
          <p:cNvPr id="8" name="Text 5"/>
          <p:cNvSpPr/>
          <p:nvPr/>
        </p:nvSpPr>
        <p:spPr>
          <a:xfrm>
            <a:off x="5954078" y="5576292"/>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D4D4D1"/>
                </a:solidFill>
                <a:latin typeface="IBM Plex Sans Medium" pitchFamily="34" charset="0"/>
                <a:ea typeface="IBM Plex Sans Medium" pitchFamily="34" charset="-122"/>
                <a:cs typeface="IBM Plex Sans Medium" pitchFamily="34" charset="-120"/>
              </a:rPr>
              <a:t>Training Set</a:t>
            </a:r>
            <a:endParaRPr lang="en-US" sz="2200" dirty="0"/>
          </a:p>
        </p:txBody>
      </p:sp>
      <p:sp>
        <p:nvSpPr>
          <p:cNvPr id="9" name="Text 6"/>
          <p:cNvSpPr/>
          <p:nvPr/>
        </p:nvSpPr>
        <p:spPr>
          <a:xfrm>
            <a:off x="5954078" y="6066711"/>
            <a:ext cx="3459242" cy="725805"/>
          </a:xfrm>
          <a:prstGeom prst="rect">
            <a:avLst/>
          </a:prstGeom>
          <a:noFill/>
          <a:ln/>
        </p:spPr>
        <p:txBody>
          <a:bodyPr wrap="square" lIns="0" tIns="0" rIns="0" bIns="0" rtlCol="0" anchor="t"/>
          <a:lstStyle/>
          <a:p>
            <a:pPr algn="l" indent="0" marL="0">
              <a:lnSpc>
                <a:spcPts val="2850"/>
              </a:lnSpc>
              <a:buNone/>
            </a:pPr>
            <a:r>
              <a:rPr lang="en-US" sz="1750" dirty="0">
                <a:solidFill>
                  <a:srgbClr val="D4D4D1"/>
                </a:solidFill>
                <a:latin typeface="Roboto" pitchFamily="34" charset="0"/>
                <a:ea typeface="Roboto" pitchFamily="34" charset="-122"/>
                <a:cs typeface="Roboto" pitchFamily="34" charset="-120"/>
              </a:rPr>
              <a:t>Includes labeled bounding boxes in CSV format.</a:t>
            </a:r>
            <a:endParaRPr lang="en-US" sz="1750" dirty="0"/>
          </a:p>
        </p:txBody>
      </p:sp>
      <p:sp>
        <p:nvSpPr>
          <p:cNvPr id="10" name="Shape 7"/>
          <p:cNvSpPr/>
          <p:nvPr/>
        </p:nvSpPr>
        <p:spPr>
          <a:xfrm>
            <a:off x="9640133" y="5576292"/>
            <a:ext cx="510302" cy="510302"/>
          </a:xfrm>
          <a:prstGeom prst="roundRect">
            <a:avLst>
              <a:gd name="adj" fmla="val 6667"/>
            </a:avLst>
          </a:prstGeom>
          <a:solidFill>
            <a:srgbClr val="484B51"/>
          </a:solidFill>
          <a:ln/>
        </p:spPr>
      </p:sp>
      <p:sp>
        <p:nvSpPr>
          <p:cNvPr id="11" name="Text 8"/>
          <p:cNvSpPr/>
          <p:nvPr/>
        </p:nvSpPr>
        <p:spPr>
          <a:xfrm>
            <a:off x="10377249" y="5576292"/>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D4D4D1"/>
                </a:solidFill>
                <a:latin typeface="IBM Plex Sans Medium" pitchFamily="34" charset="0"/>
                <a:ea typeface="IBM Plex Sans Medium" pitchFamily="34" charset="-122"/>
                <a:cs typeface="IBM Plex Sans Medium" pitchFamily="34" charset="-120"/>
              </a:rPr>
              <a:t>Test Set</a:t>
            </a:r>
            <a:endParaRPr lang="en-US" sz="2200" dirty="0"/>
          </a:p>
        </p:txBody>
      </p:sp>
      <p:sp>
        <p:nvSpPr>
          <p:cNvPr id="12" name="Text 9"/>
          <p:cNvSpPr/>
          <p:nvPr/>
        </p:nvSpPr>
        <p:spPr>
          <a:xfrm>
            <a:off x="10377249" y="6066711"/>
            <a:ext cx="3459242" cy="725805"/>
          </a:xfrm>
          <a:prstGeom prst="rect">
            <a:avLst/>
          </a:prstGeom>
          <a:noFill/>
          <a:ln/>
        </p:spPr>
        <p:txBody>
          <a:bodyPr wrap="square" lIns="0" tIns="0" rIns="0" bIns="0" rtlCol="0" anchor="t"/>
          <a:lstStyle/>
          <a:p>
            <a:pPr algn="l" indent="0" marL="0">
              <a:lnSpc>
                <a:spcPts val="2850"/>
              </a:lnSpc>
              <a:buNone/>
            </a:pPr>
            <a:r>
              <a:rPr lang="en-US" sz="1750" dirty="0">
                <a:solidFill>
                  <a:srgbClr val="D4D4D1"/>
                </a:solidFill>
                <a:latin typeface="Roboto" pitchFamily="34" charset="0"/>
                <a:ea typeface="Roboto" pitchFamily="34" charset="-122"/>
                <a:cs typeface="Roboto" pitchFamily="34" charset="-120"/>
              </a:rPr>
              <a:t>Unlabeled images for model validation.</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033105"/>
            <a:ext cx="7236381" cy="708779"/>
          </a:xfrm>
          <a:prstGeom prst="rect">
            <a:avLst/>
          </a:prstGeom>
          <a:noFill/>
          <a:ln/>
        </p:spPr>
        <p:txBody>
          <a:bodyPr wrap="none" lIns="0" tIns="0" rIns="0" bIns="0" rtlCol="0" anchor="t"/>
          <a:lstStyle/>
          <a:p>
            <a:pPr algn="l" indent="0" marL="0">
              <a:lnSpc>
                <a:spcPts val="5550"/>
              </a:lnSpc>
              <a:buNone/>
            </a:pPr>
            <a:r>
              <a:rPr lang="en-US" sz="4450" dirty="0">
                <a:solidFill>
                  <a:srgbClr val="F3F3F2"/>
                </a:solidFill>
                <a:latin typeface="IBM Plex Sans Medium" pitchFamily="34" charset="0"/>
                <a:ea typeface="IBM Plex Sans Medium" pitchFamily="34" charset="-122"/>
                <a:cs typeface="IBM Plex Sans Medium" pitchFamily="34" charset="-120"/>
              </a:rPr>
              <a:t>Image Processing Workflow</a:t>
            </a:r>
            <a:endParaRPr lang="en-US" sz="4450" dirty="0"/>
          </a:p>
        </p:txBody>
      </p:sp>
      <p:sp>
        <p:nvSpPr>
          <p:cNvPr id="4" name="Shape 1"/>
          <p:cNvSpPr/>
          <p:nvPr/>
        </p:nvSpPr>
        <p:spPr>
          <a:xfrm>
            <a:off x="793790" y="2337197"/>
            <a:ext cx="510302" cy="510302"/>
          </a:xfrm>
          <a:prstGeom prst="roundRect">
            <a:avLst>
              <a:gd name="adj" fmla="val 6667"/>
            </a:avLst>
          </a:prstGeom>
          <a:solidFill>
            <a:srgbClr val="484B51"/>
          </a:solidFill>
          <a:ln/>
        </p:spPr>
      </p:sp>
      <p:sp>
        <p:nvSpPr>
          <p:cNvPr id="5" name="Text 2"/>
          <p:cNvSpPr/>
          <p:nvPr/>
        </p:nvSpPr>
        <p:spPr>
          <a:xfrm>
            <a:off x="878860" y="2379702"/>
            <a:ext cx="340162" cy="425291"/>
          </a:xfrm>
          <a:prstGeom prst="rect">
            <a:avLst/>
          </a:prstGeom>
          <a:noFill/>
          <a:ln/>
        </p:spPr>
        <p:txBody>
          <a:bodyPr wrap="none" lIns="0" tIns="0" rIns="0" bIns="0" rtlCol="0" anchor="t"/>
          <a:lstStyle/>
          <a:p>
            <a:pPr algn="ctr" indent="0" marL="0">
              <a:lnSpc>
                <a:spcPts val="2650"/>
              </a:lnSpc>
              <a:buNone/>
            </a:pPr>
            <a:r>
              <a:rPr lang="en-US" sz="2650" dirty="0">
                <a:solidFill>
                  <a:srgbClr val="D4D4D1"/>
                </a:solidFill>
                <a:latin typeface="IBM Plex Sans Medium" pitchFamily="34" charset="0"/>
                <a:ea typeface="IBM Plex Sans Medium" pitchFamily="34" charset="-122"/>
                <a:cs typeface="IBM Plex Sans Medium" pitchFamily="34" charset="-120"/>
              </a:rPr>
              <a:t>1</a:t>
            </a:r>
            <a:endParaRPr lang="en-US" sz="2650" dirty="0"/>
          </a:p>
        </p:txBody>
      </p:sp>
      <p:sp>
        <p:nvSpPr>
          <p:cNvPr id="6" name="Text 3"/>
          <p:cNvSpPr/>
          <p:nvPr/>
        </p:nvSpPr>
        <p:spPr>
          <a:xfrm>
            <a:off x="1530906" y="2337197"/>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D4D4D1"/>
                </a:solidFill>
                <a:latin typeface="IBM Plex Sans Medium" pitchFamily="34" charset="0"/>
                <a:ea typeface="IBM Plex Sans Medium" pitchFamily="34" charset="-122"/>
                <a:cs typeface="IBM Plex Sans Medium" pitchFamily="34" charset="-120"/>
              </a:rPr>
              <a:t>Preprocessing</a:t>
            </a:r>
            <a:endParaRPr lang="en-US" sz="2200" dirty="0"/>
          </a:p>
        </p:txBody>
      </p:sp>
      <p:sp>
        <p:nvSpPr>
          <p:cNvPr id="7" name="Text 4"/>
          <p:cNvSpPr/>
          <p:nvPr/>
        </p:nvSpPr>
        <p:spPr>
          <a:xfrm>
            <a:off x="1530906" y="2827615"/>
            <a:ext cx="6819305" cy="362903"/>
          </a:xfrm>
          <a:prstGeom prst="rect">
            <a:avLst/>
          </a:prstGeom>
          <a:noFill/>
          <a:ln/>
        </p:spPr>
        <p:txBody>
          <a:bodyPr wrap="none" lIns="0" tIns="0" rIns="0" bIns="0" rtlCol="0" anchor="t"/>
          <a:lstStyle/>
          <a:p>
            <a:pPr algn="l" indent="0" marL="0">
              <a:lnSpc>
                <a:spcPts val="2850"/>
              </a:lnSpc>
              <a:buNone/>
            </a:pPr>
            <a:r>
              <a:rPr lang="en-US" sz="1750" dirty="0">
                <a:solidFill>
                  <a:srgbClr val="D4D4D1"/>
                </a:solidFill>
                <a:latin typeface="Roboto" pitchFamily="34" charset="0"/>
                <a:ea typeface="Roboto" pitchFamily="34" charset="-122"/>
                <a:cs typeface="Roboto" pitchFamily="34" charset="-120"/>
              </a:rPr>
              <a:t>Grayscale conversion, blurring, and equalization</a:t>
            </a:r>
            <a:endParaRPr lang="en-US" sz="1750" dirty="0"/>
          </a:p>
        </p:txBody>
      </p:sp>
      <p:sp>
        <p:nvSpPr>
          <p:cNvPr id="8" name="Shape 5"/>
          <p:cNvSpPr/>
          <p:nvPr/>
        </p:nvSpPr>
        <p:spPr>
          <a:xfrm>
            <a:off x="793790" y="3672483"/>
            <a:ext cx="510302" cy="510302"/>
          </a:xfrm>
          <a:prstGeom prst="roundRect">
            <a:avLst>
              <a:gd name="adj" fmla="val 6667"/>
            </a:avLst>
          </a:prstGeom>
          <a:solidFill>
            <a:srgbClr val="484B51"/>
          </a:solidFill>
          <a:ln/>
        </p:spPr>
      </p:sp>
      <p:sp>
        <p:nvSpPr>
          <p:cNvPr id="9" name="Text 6"/>
          <p:cNvSpPr/>
          <p:nvPr/>
        </p:nvSpPr>
        <p:spPr>
          <a:xfrm>
            <a:off x="878860" y="3714988"/>
            <a:ext cx="340162" cy="425291"/>
          </a:xfrm>
          <a:prstGeom prst="rect">
            <a:avLst/>
          </a:prstGeom>
          <a:noFill/>
          <a:ln/>
        </p:spPr>
        <p:txBody>
          <a:bodyPr wrap="none" lIns="0" tIns="0" rIns="0" bIns="0" rtlCol="0" anchor="t"/>
          <a:lstStyle/>
          <a:p>
            <a:pPr algn="ctr" indent="0" marL="0">
              <a:lnSpc>
                <a:spcPts val="2650"/>
              </a:lnSpc>
              <a:buNone/>
            </a:pPr>
            <a:r>
              <a:rPr lang="en-US" sz="2650" dirty="0">
                <a:solidFill>
                  <a:srgbClr val="D4D4D1"/>
                </a:solidFill>
                <a:latin typeface="IBM Plex Sans Medium" pitchFamily="34" charset="0"/>
                <a:ea typeface="IBM Plex Sans Medium" pitchFamily="34" charset="-122"/>
                <a:cs typeface="IBM Plex Sans Medium" pitchFamily="34" charset="-120"/>
              </a:rPr>
              <a:t>2</a:t>
            </a:r>
            <a:endParaRPr lang="en-US" sz="2650" dirty="0"/>
          </a:p>
        </p:txBody>
      </p:sp>
      <p:sp>
        <p:nvSpPr>
          <p:cNvPr id="10" name="Text 7"/>
          <p:cNvSpPr/>
          <p:nvPr/>
        </p:nvSpPr>
        <p:spPr>
          <a:xfrm>
            <a:off x="1530906" y="367248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D4D4D1"/>
                </a:solidFill>
                <a:latin typeface="IBM Plex Sans Medium" pitchFamily="34" charset="0"/>
                <a:ea typeface="IBM Plex Sans Medium" pitchFamily="34" charset="-122"/>
                <a:cs typeface="IBM Plex Sans Medium" pitchFamily="34" charset="-120"/>
              </a:rPr>
              <a:t>Feature Extraction</a:t>
            </a:r>
            <a:endParaRPr lang="en-US" sz="2200" dirty="0"/>
          </a:p>
        </p:txBody>
      </p:sp>
      <p:sp>
        <p:nvSpPr>
          <p:cNvPr id="11" name="Text 8"/>
          <p:cNvSpPr/>
          <p:nvPr/>
        </p:nvSpPr>
        <p:spPr>
          <a:xfrm>
            <a:off x="1530906" y="4162901"/>
            <a:ext cx="6819305" cy="362903"/>
          </a:xfrm>
          <a:prstGeom prst="rect">
            <a:avLst/>
          </a:prstGeom>
          <a:noFill/>
          <a:ln/>
        </p:spPr>
        <p:txBody>
          <a:bodyPr wrap="none" lIns="0" tIns="0" rIns="0" bIns="0" rtlCol="0" anchor="t"/>
          <a:lstStyle/>
          <a:p>
            <a:pPr algn="l" indent="0" marL="0">
              <a:lnSpc>
                <a:spcPts val="2850"/>
              </a:lnSpc>
              <a:buNone/>
            </a:pPr>
            <a:r>
              <a:rPr lang="en-US" sz="1750" dirty="0">
                <a:solidFill>
                  <a:srgbClr val="D4D4D1"/>
                </a:solidFill>
                <a:latin typeface="Roboto" pitchFamily="34" charset="0"/>
                <a:ea typeface="Roboto" pitchFamily="34" charset="-122"/>
                <a:cs typeface="Roboto" pitchFamily="34" charset="-120"/>
              </a:rPr>
              <a:t>ORB keypoints highlight key image features</a:t>
            </a:r>
            <a:endParaRPr lang="en-US" sz="1750" dirty="0"/>
          </a:p>
        </p:txBody>
      </p:sp>
      <p:sp>
        <p:nvSpPr>
          <p:cNvPr id="12" name="Shape 9"/>
          <p:cNvSpPr/>
          <p:nvPr/>
        </p:nvSpPr>
        <p:spPr>
          <a:xfrm>
            <a:off x="793790" y="5007769"/>
            <a:ext cx="510302" cy="510302"/>
          </a:xfrm>
          <a:prstGeom prst="roundRect">
            <a:avLst>
              <a:gd name="adj" fmla="val 6667"/>
            </a:avLst>
          </a:prstGeom>
          <a:solidFill>
            <a:srgbClr val="484B51"/>
          </a:solidFill>
          <a:ln/>
        </p:spPr>
      </p:sp>
      <p:sp>
        <p:nvSpPr>
          <p:cNvPr id="13" name="Text 10"/>
          <p:cNvSpPr/>
          <p:nvPr/>
        </p:nvSpPr>
        <p:spPr>
          <a:xfrm>
            <a:off x="878860" y="5050274"/>
            <a:ext cx="340162" cy="425291"/>
          </a:xfrm>
          <a:prstGeom prst="rect">
            <a:avLst/>
          </a:prstGeom>
          <a:noFill/>
          <a:ln/>
        </p:spPr>
        <p:txBody>
          <a:bodyPr wrap="none" lIns="0" tIns="0" rIns="0" bIns="0" rtlCol="0" anchor="t"/>
          <a:lstStyle/>
          <a:p>
            <a:pPr algn="ctr" indent="0" marL="0">
              <a:lnSpc>
                <a:spcPts val="2650"/>
              </a:lnSpc>
              <a:buNone/>
            </a:pPr>
            <a:r>
              <a:rPr lang="en-US" sz="2650" dirty="0">
                <a:solidFill>
                  <a:srgbClr val="D4D4D1"/>
                </a:solidFill>
                <a:latin typeface="IBM Plex Sans Medium" pitchFamily="34" charset="0"/>
                <a:ea typeface="IBM Plex Sans Medium" pitchFamily="34" charset="-122"/>
                <a:cs typeface="IBM Plex Sans Medium" pitchFamily="34" charset="-120"/>
              </a:rPr>
              <a:t>3</a:t>
            </a:r>
            <a:endParaRPr lang="en-US" sz="2650" dirty="0"/>
          </a:p>
        </p:txBody>
      </p:sp>
      <p:sp>
        <p:nvSpPr>
          <p:cNvPr id="14" name="Text 11"/>
          <p:cNvSpPr/>
          <p:nvPr/>
        </p:nvSpPr>
        <p:spPr>
          <a:xfrm>
            <a:off x="1530906" y="5007769"/>
            <a:ext cx="2950726" cy="354330"/>
          </a:xfrm>
          <a:prstGeom prst="rect">
            <a:avLst/>
          </a:prstGeom>
          <a:noFill/>
          <a:ln/>
        </p:spPr>
        <p:txBody>
          <a:bodyPr wrap="none" lIns="0" tIns="0" rIns="0" bIns="0" rtlCol="0" anchor="t"/>
          <a:lstStyle/>
          <a:p>
            <a:pPr algn="l" indent="0" marL="0">
              <a:lnSpc>
                <a:spcPts val="2750"/>
              </a:lnSpc>
              <a:buNone/>
            </a:pPr>
            <a:r>
              <a:rPr lang="en-US" sz="2200" dirty="0">
                <a:solidFill>
                  <a:srgbClr val="D4D4D1"/>
                </a:solidFill>
                <a:latin typeface="IBM Plex Sans Medium" pitchFamily="34" charset="0"/>
                <a:ea typeface="IBM Plex Sans Medium" pitchFamily="34" charset="-122"/>
                <a:cs typeface="IBM Plex Sans Medium" pitchFamily="34" charset="-120"/>
              </a:rPr>
              <a:t>Perspective Correction</a:t>
            </a:r>
            <a:endParaRPr lang="en-US" sz="2200" dirty="0"/>
          </a:p>
        </p:txBody>
      </p:sp>
      <p:sp>
        <p:nvSpPr>
          <p:cNvPr id="15" name="Text 12"/>
          <p:cNvSpPr/>
          <p:nvPr/>
        </p:nvSpPr>
        <p:spPr>
          <a:xfrm>
            <a:off x="1530906" y="5498187"/>
            <a:ext cx="6819305" cy="362903"/>
          </a:xfrm>
          <a:prstGeom prst="rect">
            <a:avLst/>
          </a:prstGeom>
          <a:noFill/>
          <a:ln/>
        </p:spPr>
        <p:txBody>
          <a:bodyPr wrap="none" lIns="0" tIns="0" rIns="0" bIns="0" rtlCol="0" anchor="t"/>
          <a:lstStyle/>
          <a:p>
            <a:pPr algn="l" indent="0" marL="0">
              <a:lnSpc>
                <a:spcPts val="2850"/>
              </a:lnSpc>
              <a:buNone/>
            </a:pPr>
            <a:r>
              <a:rPr lang="en-US" sz="1750" dirty="0">
                <a:solidFill>
                  <a:srgbClr val="D4D4D1"/>
                </a:solidFill>
                <a:latin typeface="Roboto" pitchFamily="34" charset="0"/>
                <a:ea typeface="Roboto" pitchFamily="34" charset="-122"/>
                <a:cs typeface="Roboto" pitchFamily="34" charset="-120"/>
              </a:rPr>
              <a:t>Optional step to align image plane</a:t>
            </a:r>
            <a:endParaRPr lang="en-US" sz="1750" dirty="0"/>
          </a:p>
        </p:txBody>
      </p:sp>
      <p:sp>
        <p:nvSpPr>
          <p:cNvPr id="16" name="Shape 13"/>
          <p:cNvSpPr/>
          <p:nvPr/>
        </p:nvSpPr>
        <p:spPr>
          <a:xfrm>
            <a:off x="793790" y="6343055"/>
            <a:ext cx="510302" cy="510302"/>
          </a:xfrm>
          <a:prstGeom prst="roundRect">
            <a:avLst>
              <a:gd name="adj" fmla="val 6667"/>
            </a:avLst>
          </a:prstGeom>
          <a:solidFill>
            <a:srgbClr val="484B51"/>
          </a:solidFill>
          <a:ln/>
        </p:spPr>
      </p:sp>
      <p:sp>
        <p:nvSpPr>
          <p:cNvPr id="17" name="Text 14"/>
          <p:cNvSpPr/>
          <p:nvPr/>
        </p:nvSpPr>
        <p:spPr>
          <a:xfrm>
            <a:off x="878860" y="6385560"/>
            <a:ext cx="340162" cy="425291"/>
          </a:xfrm>
          <a:prstGeom prst="rect">
            <a:avLst/>
          </a:prstGeom>
          <a:noFill/>
          <a:ln/>
        </p:spPr>
        <p:txBody>
          <a:bodyPr wrap="none" lIns="0" tIns="0" rIns="0" bIns="0" rtlCol="0" anchor="t"/>
          <a:lstStyle/>
          <a:p>
            <a:pPr algn="ctr" indent="0" marL="0">
              <a:lnSpc>
                <a:spcPts val="2650"/>
              </a:lnSpc>
              <a:buNone/>
            </a:pPr>
            <a:r>
              <a:rPr lang="en-US" sz="2650" dirty="0">
                <a:solidFill>
                  <a:srgbClr val="D4D4D1"/>
                </a:solidFill>
                <a:latin typeface="IBM Plex Sans Medium" pitchFamily="34" charset="0"/>
                <a:ea typeface="IBM Plex Sans Medium" pitchFamily="34" charset="-122"/>
                <a:cs typeface="IBM Plex Sans Medium" pitchFamily="34" charset="-120"/>
              </a:rPr>
              <a:t>4</a:t>
            </a:r>
            <a:endParaRPr lang="en-US" sz="2650" dirty="0"/>
          </a:p>
        </p:txBody>
      </p:sp>
      <p:sp>
        <p:nvSpPr>
          <p:cNvPr id="18" name="Text 15"/>
          <p:cNvSpPr/>
          <p:nvPr/>
        </p:nvSpPr>
        <p:spPr>
          <a:xfrm>
            <a:off x="1530906" y="6343055"/>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D4D4D1"/>
                </a:solidFill>
                <a:latin typeface="IBM Plex Sans Medium" pitchFamily="34" charset="0"/>
                <a:ea typeface="IBM Plex Sans Medium" pitchFamily="34" charset="-122"/>
                <a:cs typeface="IBM Plex Sans Medium" pitchFamily="34" charset="-120"/>
              </a:rPr>
              <a:t>Edge Detection</a:t>
            </a:r>
            <a:endParaRPr lang="en-US" sz="2200" dirty="0"/>
          </a:p>
        </p:txBody>
      </p:sp>
      <p:sp>
        <p:nvSpPr>
          <p:cNvPr id="19" name="Text 16"/>
          <p:cNvSpPr/>
          <p:nvPr/>
        </p:nvSpPr>
        <p:spPr>
          <a:xfrm>
            <a:off x="1530906" y="6833473"/>
            <a:ext cx="6819305" cy="362903"/>
          </a:xfrm>
          <a:prstGeom prst="rect">
            <a:avLst/>
          </a:prstGeom>
          <a:noFill/>
          <a:ln/>
        </p:spPr>
        <p:txBody>
          <a:bodyPr wrap="none" lIns="0" tIns="0" rIns="0" bIns="0" rtlCol="0" anchor="t"/>
          <a:lstStyle/>
          <a:p>
            <a:pPr algn="l" indent="0" marL="0">
              <a:lnSpc>
                <a:spcPts val="2850"/>
              </a:lnSpc>
              <a:buNone/>
            </a:pPr>
            <a:r>
              <a:rPr lang="en-US" sz="1750" dirty="0">
                <a:solidFill>
                  <a:srgbClr val="D4D4D1"/>
                </a:solidFill>
                <a:latin typeface="Roboto" pitchFamily="34" charset="0"/>
                <a:ea typeface="Roboto" pitchFamily="34" charset="-122"/>
                <a:cs typeface="Roboto" pitchFamily="34" charset="-120"/>
              </a:rPr>
              <a:t>Uses Canny algorithm for sharp edges</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835235"/>
          </a:xfrm>
          <a:prstGeom prst="rect">
            <a:avLst/>
          </a:prstGeom>
        </p:spPr>
      </p:pic>
      <p:sp>
        <p:nvSpPr>
          <p:cNvPr id="3" name="Text 0"/>
          <p:cNvSpPr/>
          <p:nvPr/>
        </p:nvSpPr>
        <p:spPr>
          <a:xfrm>
            <a:off x="793790" y="4218384"/>
            <a:ext cx="6225421" cy="708779"/>
          </a:xfrm>
          <a:prstGeom prst="rect">
            <a:avLst/>
          </a:prstGeom>
          <a:noFill/>
          <a:ln/>
        </p:spPr>
        <p:txBody>
          <a:bodyPr wrap="none" lIns="0" tIns="0" rIns="0" bIns="0" rtlCol="0" anchor="t"/>
          <a:lstStyle/>
          <a:p>
            <a:pPr algn="l" indent="0" marL="0">
              <a:lnSpc>
                <a:spcPts val="5550"/>
              </a:lnSpc>
              <a:buNone/>
            </a:pPr>
            <a:r>
              <a:rPr lang="en-US" sz="4450" dirty="0">
                <a:solidFill>
                  <a:srgbClr val="F3F3F2"/>
                </a:solidFill>
                <a:latin typeface="IBM Plex Sans Medium" pitchFamily="34" charset="0"/>
                <a:ea typeface="IBM Plex Sans Medium" pitchFamily="34" charset="-122"/>
                <a:cs typeface="IBM Plex Sans Medium" pitchFamily="34" charset="-120"/>
              </a:rPr>
              <a:t>Results and Advantages</a:t>
            </a:r>
            <a:endParaRPr lang="en-US" sz="4450" dirty="0"/>
          </a:p>
        </p:txBody>
      </p:sp>
      <p:pic>
        <p:nvPicPr>
          <p:cNvPr id="4" name="Image 1" descr="preencoded.png">    </p:cNvPr>
          <p:cNvPicPr>
            <a:picLocks noChangeAspect="1"/>
          </p:cNvPicPr>
          <p:nvPr/>
        </p:nvPicPr>
        <p:blipFill>
          <a:blip r:embed="rId2"/>
          <a:stretch>
            <a:fillRect/>
          </a:stretch>
        </p:blipFill>
        <p:spPr>
          <a:xfrm>
            <a:off x="793790" y="5306973"/>
            <a:ext cx="566976" cy="566976"/>
          </a:xfrm>
          <a:prstGeom prst="rect">
            <a:avLst/>
          </a:prstGeom>
        </p:spPr>
      </p:pic>
      <p:sp>
        <p:nvSpPr>
          <p:cNvPr id="5" name="Text 1"/>
          <p:cNvSpPr/>
          <p:nvPr/>
        </p:nvSpPr>
        <p:spPr>
          <a:xfrm>
            <a:off x="1587579" y="5267325"/>
            <a:ext cx="2211705" cy="354330"/>
          </a:xfrm>
          <a:prstGeom prst="rect">
            <a:avLst/>
          </a:prstGeom>
          <a:noFill/>
          <a:ln/>
        </p:spPr>
        <p:txBody>
          <a:bodyPr wrap="none" lIns="0" tIns="0" rIns="0" bIns="0" rtlCol="0" anchor="t"/>
          <a:lstStyle/>
          <a:p>
            <a:pPr algn="l" indent="0" marL="0">
              <a:lnSpc>
                <a:spcPts val="2750"/>
              </a:lnSpc>
              <a:buNone/>
            </a:pPr>
            <a:r>
              <a:rPr lang="en-US" sz="2200" dirty="0">
                <a:solidFill>
                  <a:srgbClr val="D4D4D1"/>
                </a:solidFill>
                <a:latin typeface="IBM Plex Sans Medium" pitchFamily="34" charset="0"/>
                <a:ea typeface="IBM Plex Sans Medium" pitchFamily="34" charset="-122"/>
                <a:cs typeface="IBM Plex Sans Medium" pitchFamily="34" charset="-120"/>
              </a:rPr>
              <a:t>Real-time</a:t>
            </a:r>
            <a:endParaRPr lang="en-US" sz="2200" dirty="0"/>
          </a:p>
        </p:txBody>
      </p:sp>
      <p:sp>
        <p:nvSpPr>
          <p:cNvPr id="6" name="Text 2"/>
          <p:cNvSpPr/>
          <p:nvPr/>
        </p:nvSpPr>
        <p:spPr>
          <a:xfrm>
            <a:off x="1587579" y="5757743"/>
            <a:ext cx="2211705" cy="1088708"/>
          </a:xfrm>
          <a:prstGeom prst="rect">
            <a:avLst/>
          </a:prstGeom>
          <a:noFill/>
          <a:ln/>
        </p:spPr>
        <p:txBody>
          <a:bodyPr wrap="square" lIns="0" tIns="0" rIns="0" bIns="0" rtlCol="0" anchor="t"/>
          <a:lstStyle/>
          <a:p>
            <a:pPr algn="l" indent="0" marL="0">
              <a:lnSpc>
                <a:spcPts val="2850"/>
              </a:lnSpc>
              <a:buNone/>
            </a:pPr>
            <a:r>
              <a:rPr lang="en-US" sz="1750" dirty="0">
                <a:solidFill>
                  <a:srgbClr val="D4D4D1"/>
                </a:solidFill>
                <a:latin typeface="Roboto" pitchFamily="34" charset="0"/>
                <a:ea typeface="Roboto" pitchFamily="34" charset="-122"/>
                <a:cs typeface="Roboto" pitchFamily="34" charset="-120"/>
              </a:rPr>
              <a:t>Immediate vehicle detection and slot allocation</a:t>
            </a:r>
            <a:endParaRPr lang="en-US" sz="1750" dirty="0"/>
          </a:p>
        </p:txBody>
      </p:sp>
      <p:pic>
        <p:nvPicPr>
          <p:cNvPr id="7" name="Image 2" descr="preencoded.png">    </p:cNvPr>
          <p:cNvPicPr>
            <a:picLocks noChangeAspect="1"/>
          </p:cNvPicPr>
          <p:nvPr/>
        </p:nvPicPr>
        <p:blipFill>
          <a:blip r:embed="rId3"/>
          <a:stretch>
            <a:fillRect/>
          </a:stretch>
        </p:blipFill>
        <p:spPr>
          <a:xfrm>
            <a:off x="4139446" y="5306973"/>
            <a:ext cx="566976" cy="566976"/>
          </a:xfrm>
          <a:prstGeom prst="rect">
            <a:avLst/>
          </a:prstGeom>
        </p:spPr>
      </p:pic>
      <p:sp>
        <p:nvSpPr>
          <p:cNvPr id="8" name="Text 3"/>
          <p:cNvSpPr/>
          <p:nvPr/>
        </p:nvSpPr>
        <p:spPr>
          <a:xfrm>
            <a:off x="4933236" y="5267325"/>
            <a:ext cx="2211824" cy="354330"/>
          </a:xfrm>
          <a:prstGeom prst="rect">
            <a:avLst/>
          </a:prstGeom>
          <a:noFill/>
          <a:ln/>
        </p:spPr>
        <p:txBody>
          <a:bodyPr wrap="none" lIns="0" tIns="0" rIns="0" bIns="0" rtlCol="0" anchor="t"/>
          <a:lstStyle/>
          <a:p>
            <a:pPr algn="l" indent="0" marL="0">
              <a:lnSpc>
                <a:spcPts val="2750"/>
              </a:lnSpc>
              <a:buNone/>
            </a:pPr>
            <a:r>
              <a:rPr lang="en-US" sz="2200" dirty="0">
                <a:solidFill>
                  <a:srgbClr val="D4D4D1"/>
                </a:solidFill>
                <a:latin typeface="IBM Plex Sans Medium" pitchFamily="34" charset="0"/>
                <a:ea typeface="IBM Plex Sans Medium" pitchFamily="34" charset="-122"/>
                <a:cs typeface="IBM Plex Sans Medium" pitchFamily="34" charset="-120"/>
              </a:rPr>
              <a:t>Cost-effective</a:t>
            </a:r>
            <a:endParaRPr lang="en-US" sz="2200" dirty="0"/>
          </a:p>
        </p:txBody>
      </p:sp>
      <p:sp>
        <p:nvSpPr>
          <p:cNvPr id="9" name="Text 4"/>
          <p:cNvSpPr/>
          <p:nvPr/>
        </p:nvSpPr>
        <p:spPr>
          <a:xfrm>
            <a:off x="4933236" y="5757743"/>
            <a:ext cx="2211824" cy="1088708"/>
          </a:xfrm>
          <a:prstGeom prst="rect">
            <a:avLst/>
          </a:prstGeom>
          <a:noFill/>
          <a:ln/>
        </p:spPr>
        <p:txBody>
          <a:bodyPr wrap="square" lIns="0" tIns="0" rIns="0" bIns="0" rtlCol="0" anchor="t"/>
          <a:lstStyle/>
          <a:p>
            <a:pPr algn="l" indent="0" marL="0">
              <a:lnSpc>
                <a:spcPts val="2850"/>
              </a:lnSpc>
              <a:buNone/>
            </a:pPr>
            <a:r>
              <a:rPr lang="en-US" sz="1750" dirty="0">
                <a:solidFill>
                  <a:srgbClr val="D4D4D1"/>
                </a:solidFill>
                <a:latin typeface="Roboto" pitchFamily="34" charset="0"/>
                <a:ea typeface="Roboto" pitchFamily="34" charset="-122"/>
                <a:cs typeface="Roboto" pitchFamily="34" charset="-120"/>
              </a:rPr>
              <a:t>Runs on low-cost devices without sensors or GPUs</a:t>
            </a:r>
            <a:endParaRPr lang="en-US" sz="1750" dirty="0"/>
          </a:p>
        </p:txBody>
      </p:sp>
      <p:pic>
        <p:nvPicPr>
          <p:cNvPr id="10" name="Image 3" descr="preencoded.png">    </p:cNvPr>
          <p:cNvPicPr>
            <a:picLocks noChangeAspect="1"/>
          </p:cNvPicPr>
          <p:nvPr/>
        </p:nvPicPr>
        <p:blipFill>
          <a:blip r:embed="rId4"/>
          <a:stretch>
            <a:fillRect/>
          </a:stretch>
        </p:blipFill>
        <p:spPr>
          <a:xfrm>
            <a:off x="7485221" y="5306973"/>
            <a:ext cx="566976" cy="566976"/>
          </a:xfrm>
          <a:prstGeom prst="rect">
            <a:avLst/>
          </a:prstGeom>
        </p:spPr>
      </p:pic>
      <p:sp>
        <p:nvSpPr>
          <p:cNvPr id="11" name="Text 5"/>
          <p:cNvSpPr/>
          <p:nvPr/>
        </p:nvSpPr>
        <p:spPr>
          <a:xfrm>
            <a:off x="8279011" y="5267325"/>
            <a:ext cx="2211824" cy="354330"/>
          </a:xfrm>
          <a:prstGeom prst="rect">
            <a:avLst/>
          </a:prstGeom>
          <a:noFill/>
          <a:ln/>
        </p:spPr>
        <p:txBody>
          <a:bodyPr wrap="none" lIns="0" tIns="0" rIns="0" bIns="0" rtlCol="0" anchor="t"/>
          <a:lstStyle/>
          <a:p>
            <a:pPr algn="l" indent="0" marL="0">
              <a:lnSpc>
                <a:spcPts val="2750"/>
              </a:lnSpc>
              <a:buNone/>
            </a:pPr>
            <a:r>
              <a:rPr lang="en-US" sz="2200" dirty="0">
                <a:solidFill>
                  <a:srgbClr val="D4D4D1"/>
                </a:solidFill>
                <a:latin typeface="IBM Plex Sans Medium" pitchFamily="34" charset="0"/>
                <a:ea typeface="IBM Plex Sans Medium" pitchFamily="34" charset="-122"/>
                <a:cs typeface="IBM Plex Sans Medium" pitchFamily="34" charset="-120"/>
              </a:rPr>
              <a:t>Scalable</a:t>
            </a:r>
            <a:endParaRPr lang="en-US" sz="2200" dirty="0"/>
          </a:p>
        </p:txBody>
      </p:sp>
      <p:sp>
        <p:nvSpPr>
          <p:cNvPr id="12" name="Text 6"/>
          <p:cNvSpPr/>
          <p:nvPr/>
        </p:nvSpPr>
        <p:spPr>
          <a:xfrm>
            <a:off x="8279011" y="5757743"/>
            <a:ext cx="2211824" cy="1088708"/>
          </a:xfrm>
          <a:prstGeom prst="rect">
            <a:avLst/>
          </a:prstGeom>
          <a:noFill/>
          <a:ln/>
        </p:spPr>
        <p:txBody>
          <a:bodyPr wrap="square" lIns="0" tIns="0" rIns="0" bIns="0" rtlCol="0" anchor="t"/>
          <a:lstStyle/>
          <a:p>
            <a:pPr algn="l" indent="0" marL="0">
              <a:lnSpc>
                <a:spcPts val="2850"/>
              </a:lnSpc>
              <a:buNone/>
            </a:pPr>
            <a:r>
              <a:rPr lang="en-US" sz="1750" dirty="0">
                <a:solidFill>
                  <a:srgbClr val="D4D4D1"/>
                </a:solidFill>
                <a:latin typeface="Roboto" pitchFamily="34" charset="0"/>
                <a:ea typeface="Roboto" pitchFamily="34" charset="-122"/>
                <a:cs typeface="Roboto" pitchFamily="34" charset="-120"/>
              </a:rPr>
              <a:t>Easily integrates with cloud and IoT systems</a:t>
            </a:r>
            <a:endParaRPr lang="en-US" sz="1750" dirty="0"/>
          </a:p>
        </p:txBody>
      </p:sp>
      <p:pic>
        <p:nvPicPr>
          <p:cNvPr id="13" name="Image 4" descr="preencoded.png">    </p:cNvPr>
          <p:cNvPicPr>
            <a:picLocks noChangeAspect="1"/>
          </p:cNvPicPr>
          <p:nvPr/>
        </p:nvPicPr>
        <p:blipFill>
          <a:blip r:embed="rId5"/>
          <a:stretch>
            <a:fillRect/>
          </a:stretch>
        </p:blipFill>
        <p:spPr>
          <a:xfrm>
            <a:off x="10830997" y="5306973"/>
            <a:ext cx="566976" cy="566976"/>
          </a:xfrm>
          <a:prstGeom prst="rect">
            <a:avLst/>
          </a:prstGeom>
        </p:spPr>
      </p:pic>
      <p:sp>
        <p:nvSpPr>
          <p:cNvPr id="14" name="Text 7"/>
          <p:cNvSpPr/>
          <p:nvPr/>
        </p:nvSpPr>
        <p:spPr>
          <a:xfrm>
            <a:off x="11624786" y="5267325"/>
            <a:ext cx="2211824" cy="354330"/>
          </a:xfrm>
          <a:prstGeom prst="rect">
            <a:avLst/>
          </a:prstGeom>
          <a:noFill/>
          <a:ln/>
        </p:spPr>
        <p:txBody>
          <a:bodyPr wrap="none" lIns="0" tIns="0" rIns="0" bIns="0" rtlCol="0" anchor="t"/>
          <a:lstStyle/>
          <a:p>
            <a:pPr algn="l" indent="0" marL="0">
              <a:lnSpc>
                <a:spcPts val="2750"/>
              </a:lnSpc>
              <a:buNone/>
            </a:pPr>
            <a:r>
              <a:rPr lang="en-US" sz="2200" dirty="0">
                <a:solidFill>
                  <a:srgbClr val="D4D4D1"/>
                </a:solidFill>
                <a:latin typeface="IBM Plex Sans Medium" pitchFamily="34" charset="0"/>
                <a:ea typeface="IBM Plex Sans Medium" pitchFamily="34" charset="-122"/>
                <a:cs typeface="IBM Plex Sans Medium" pitchFamily="34" charset="-120"/>
              </a:rPr>
              <a:t>Versatile</a:t>
            </a:r>
            <a:endParaRPr lang="en-US" sz="2200" dirty="0"/>
          </a:p>
        </p:txBody>
      </p:sp>
      <p:sp>
        <p:nvSpPr>
          <p:cNvPr id="15" name="Text 8"/>
          <p:cNvSpPr/>
          <p:nvPr/>
        </p:nvSpPr>
        <p:spPr>
          <a:xfrm>
            <a:off x="11624786" y="5757743"/>
            <a:ext cx="2211824" cy="1088708"/>
          </a:xfrm>
          <a:prstGeom prst="rect">
            <a:avLst/>
          </a:prstGeom>
          <a:noFill/>
          <a:ln/>
        </p:spPr>
        <p:txBody>
          <a:bodyPr wrap="square" lIns="0" tIns="0" rIns="0" bIns="0" rtlCol="0" anchor="t"/>
          <a:lstStyle/>
          <a:p>
            <a:pPr algn="l" indent="0" marL="0">
              <a:lnSpc>
                <a:spcPts val="2850"/>
              </a:lnSpc>
              <a:buNone/>
            </a:pPr>
            <a:r>
              <a:rPr lang="en-US" sz="1750" dirty="0">
                <a:solidFill>
                  <a:srgbClr val="D4D4D1"/>
                </a:solidFill>
                <a:latin typeface="Roboto" pitchFamily="34" charset="0"/>
                <a:ea typeface="Roboto" pitchFamily="34" charset="-122"/>
                <a:cs typeface="Roboto" pitchFamily="34" charset="-120"/>
              </a:rPr>
              <a:t>Suitable for malls, offices, and residential areas</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835235"/>
          </a:xfrm>
          <a:prstGeom prst="rect">
            <a:avLst/>
          </a:prstGeom>
        </p:spPr>
      </p:pic>
      <p:sp>
        <p:nvSpPr>
          <p:cNvPr id="3" name="Text 0"/>
          <p:cNvSpPr/>
          <p:nvPr/>
        </p:nvSpPr>
        <p:spPr>
          <a:xfrm>
            <a:off x="793790" y="4173022"/>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F3F3F2"/>
                </a:solidFill>
                <a:latin typeface="IBM Plex Sans Medium" pitchFamily="34" charset="0"/>
                <a:ea typeface="IBM Plex Sans Medium" pitchFamily="34" charset="-122"/>
                <a:cs typeface="IBM Plex Sans Medium" pitchFamily="34" charset="-120"/>
              </a:rPr>
              <a:t>Conclusion</a:t>
            </a:r>
            <a:endParaRPr lang="en-US" sz="4450" dirty="0"/>
          </a:p>
        </p:txBody>
      </p:sp>
      <p:sp>
        <p:nvSpPr>
          <p:cNvPr id="4" name="Shape 1"/>
          <p:cNvSpPr/>
          <p:nvPr/>
        </p:nvSpPr>
        <p:spPr>
          <a:xfrm>
            <a:off x="793790" y="5221962"/>
            <a:ext cx="4196358" cy="1669852"/>
          </a:xfrm>
          <a:prstGeom prst="roundRect">
            <a:avLst>
              <a:gd name="adj" fmla="val 2038"/>
            </a:avLst>
          </a:prstGeom>
          <a:solidFill>
            <a:srgbClr val="484B51"/>
          </a:solidFill>
          <a:ln/>
        </p:spPr>
      </p:sp>
      <p:sp>
        <p:nvSpPr>
          <p:cNvPr id="5" name="Text 2"/>
          <p:cNvSpPr/>
          <p:nvPr/>
        </p:nvSpPr>
        <p:spPr>
          <a:xfrm>
            <a:off x="1020604" y="5448776"/>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D4D4D1"/>
                </a:solidFill>
                <a:latin typeface="IBM Plex Sans Medium" pitchFamily="34" charset="0"/>
                <a:ea typeface="IBM Plex Sans Medium" pitchFamily="34" charset="-122"/>
                <a:cs typeface="IBM Plex Sans Medium" pitchFamily="34" charset="-120"/>
              </a:rPr>
              <a:t>Practical solution</a:t>
            </a:r>
            <a:endParaRPr lang="en-US" sz="2200" dirty="0"/>
          </a:p>
        </p:txBody>
      </p:sp>
      <p:sp>
        <p:nvSpPr>
          <p:cNvPr id="6" name="Text 3"/>
          <p:cNvSpPr/>
          <p:nvPr/>
        </p:nvSpPr>
        <p:spPr>
          <a:xfrm>
            <a:off x="1020604" y="5939195"/>
            <a:ext cx="3742730" cy="725805"/>
          </a:xfrm>
          <a:prstGeom prst="rect">
            <a:avLst/>
          </a:prstGeom>
          <a:noFill/>
          <a:ln/>
        </p:spPr>
        <p:txBody>
          <a:bodyPr wrap="square" lIns="0" tIns="0" rIns="0" bIns="0" rtlCol="0" anchor="t"/>
          <a:lstStyle/>
          <a:p>
            <a:pPr algn="l" indent="0" marL="0">
              <a:lnSpc>
                <a:spcPts val="2850"/>
              </a:lnSpc>
              <a:buNone/>
            </a:pPr>
            <a:r>
              <a:rPr lang="en-US" sz="1750" dirty="0">
                <a:solidFill>
                  <a:srgbClr val="D4D4D1"/>
                </a:solidFill>
                <a:latin typeface="Roboto" pitchFamily="34" charset="0"/>
                <a:ea typeface="Roboto" pitchFamily="34" charset="-122"/>
                <a:cs typeface="Roboto" pitchFamily="34" charset="-120"/>
              </a:rPr>
              <a:t>Classical vision techniques minimize cost and complexity</a:t>
            </a:r>
            <a:endParaRPr lang="en-US" sz="1750" dirty="0"/>
          </a:p>
        </p:txBody>
      </p:sp>
      <p:sp>
        <p:nvSpPr>
          <p:cNvPr id="7" name="Shape 4"/>
          <p:cNvSpPr/>
          <p:nvPr/>
        </p:nvSpPr>
        <p:spPr>
          <a:xfrm>
            <a:off x="5216962" y="5221962"/>
            <a:ext cx="4196358" cy="1669852"/>
          </a:xfrm>
          <a:prstGeom prst="roundRect">
            <a:avLst>
              <a:gd name="adj" fmla="val 2038"/>
            </a:avLst>
          </a:prstGeom>
          <a:solidFill>
            <a:srgbClr val="484B51"/>
          </a:solidFill>
          <a:ln/>
        </p:spPr>
      </p:sp>
      <p:sp>
        <p:nvSpPr>
          <p:cNvPr id="8" name="Text 5"/>
          <p:cNvSpPr/>
          <p:nvPr/>
        </p:nvSpPr>
        <p:spPr>
          <a:xfrm>
            <a:off x="5443776" y="5448776"/>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D4D4D1"/>
                </a:solidFill>
                <a:latin typeface="IBM Plex Sans Medium" pitchFamily="34" charset="0"/>
                <a:ea typeface="IBM Plex Sans Medium" pitchFamily="34" charset="-122"/>
                <a:cs typeface="IBM Plex Sans Medium" pitchFamily="34" charset="-120"/>
              </a:rPr>
              <a:t>Scalable integration</a:t>
            </a:r>
            <a:endParaRPr lang="en-US" sz="2200" dirty="0"/>
          </a:p>
        </p:txBody>
      </p:sp>
      <p:sp>
        <p:nvSpPr>
          <p:cNvPr id="9" name="Text 6"/>
          <p:cNvSpPr/>
          <p:nvPr/>
        </p:nvSpPr>
        <p:spPr>
          <a:xfrm>
            <a:off x="5443776" y="5939195"/>
            <a:ext cx="3742730" cy="725805"/>
          </a:xfrm>
          <a:prstGeom prst="rect">
            <a:avLst/>
          </a:prstGeom>
          <a:noFill/>
          <a:ln/>
        </p:spPr>
        <p:txBody>
          <a:bodyPr wrap="square" lIns="0" tIns="0" rIns="0" bIns="0" rtlCol="0" anchor="t"/>
          <a:lstStyle/>
          <a:p>
            <a:pPr algn="l" indent="0" marL="0">
              <a:lnSpc>
                <a:spcPts val="2850"/>
              </a:lnSpc>
              <a:buNone/>
            </a:pPr>
            <a:r>
              <a:rPr lang="en-US" sz="1750" dirty="0">
                <a:solidFill>
                  <a:srgbClr val="D4D4D1"/>
                </a:solidFill>
                <a:latin typeface="Roboto" pitchFamily="34" charset="0"/>
                <a:ea typeface="Roboto" pitchFamily="34" charset="-122"/>
                <a:cs typeface="Roboto" pitchFamily="34" charset="-120"/>
              </a:rPr>
              <a:t>Ready for adoption in smart city infrastructure</a:t>
            </a:r>
            <a:endParaRPr lang="en-US" sz="1750" dirty="0"/>
          </a:p>
        </p:txBody>
      </p:sp>
      <p:sp>
        <p:nvSpPr>
          <p:cNvPr id="10" name="Shape 7"/>
          <p:cNvSpPr/>
          <p:nvPr/>
        </p:nvSpPr>
        <p:spPr>
          <a:xfrm>
            <a:off x="9640133" y="5221962"/>
            <a:ext cx="4196358" cy="1669852"/>
          </a:xfrm>
          <a:prstGeom prst="roundRect">
            <a:avLst>
              <a:gd name="adj" fmla="val 2038"/>
            </a:avLst>
          </a:prstGeom>
          <a:solidFill>
            <a:srgbClr val="484B51"/>
          </a:solidFill>
          <a:ln/>
        </p:spPr>
      </p:sp>
      <p:sp>
        <p:nvSpPr>
          <p:cNvPr id="11" name="Text 8"/>
          <p:cNvSpPr/>
          <p:nvPr/>
        </p:nvSpPr>
        <p:spPr>
          <a:xfrm>
            <a:off x="9866948" y="5448776"/>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D4D4D1"/>
                </a:solidFill>
                <a:latin typeface="IBM Plex Sans Medium" pitchFamily="34" charset="0"/>
                <a:ea typeface="IBM Plex Sans Medium" pitchFamily="34" charset="-122"/>
                <a:cs typeface="IBM Plex Sans Medium" pitchFamily="34" charset="-120"/>
              </a:rPr>
              <a:t>Bridging systems</a:t>
            </a:r>
            <a:endParaRPr lang="en-US" sz="2200" dirty="0"/>
          </a:p>
        </p:txBody>
      </p:sp>
      <p:sp>
        <p:nvSpPr>
          <p:cNvPr id="12" name="Text 9"/>
          <p:cNvSpPr/>
          <p:nvPr/>
        </p:nvSpPr>
        <p:spPr>
          <a:xfrm>
            <a:off x="9866948" y="5939195"/>
            <a:ext cx="3742730" cy="725805"/>
          </a:xfrm>
          <a:prstGeom prst="rect">
            <a:avLst/>
          </a:prstGeom>
          <a:noFill/>
          <a:ln/>
        </p:spPr>
        <p:txBody>
          <a:bodyPr wrap="square" lIns="0" tIns="0" rIns="0" bIns="0" rtlCol="0" anchor="t"/>
          <a:lstStyle/>
          <a:p>
            <a:pPr algn="l" indent="0" marL="0">
              <a:lnSpc>
                <a:spcPts val="2850"/>
              </a:lnSpc>
              <a:buNone/>
            </a:pPr>
            <a:r>
              <a:rPr lang="en-US" sz="1750" dirty="0">
                <a:solidFill>
                  <a:srgbClr val="D4D4D1"/>
                </a:solidFill>
                <a:latin typeface="Roboto" pitchFamily="34" charset="0"/>
                <a:ea typeface="Roboto" pitchFamily="34" charset="-122"/>
                <a:cs typeface="Roboto" pitchFamily="34" charset="-120"/>
              </a:rPr>
              <a:t>Combines traditional surveillance with intelligent transport</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2362795"/>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F3F3F2"/>
                </a:solidFill>
                <a:latin typeface="IBM Plex Sans Medium" pitchFamily="34" charset="0"/>
                <a:ea typeface="IBM Plex Sans Medium" pitchFamily="34" charset="-122"/>
                <a:cs typeface="IBM Plex Sans Medium" pitchFamily="34" charset="-120"/>
              </a:rPr>
              <a:t>Future Scope</a:t>
            </a:r>
            <a:endParaRPr lang="en-US" sz="4450" dirty="0"/>
          </a:p>
        </p:txBody>
      </p:sp>
      <p:sp>
        <p:nvSpPr>
          <p:cNvPr id="3" name="Text 1"/>
          <p:cNvSpPr/>
          <p:nvPr/>
        </p:nvSpPr>
        <p:spPr>
          <a:xfrm>
            <a:off x="793790" y="3638550"/>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F3F3F2"/>
                </a:solidFill>
                <a:latin typeface="IBM Plex Sans Medium" pitchFamily="34" charset="0"/>
                <a:ea typeface="IBM Plex Sans Medium" pitchFamily="34" charset="-122"/>
                <a:cs typeface="IBM Plex Sans Medium" pitchFamily="34" charset="-120"/>
              </a:rPr>
              <a:t>Timestamp Billing</a:t>
            </a:r>
            <a:endParaRPr lang="en-US" sz="2200" dirty="0"/>
          </a:p>
        </p:txBody>
      </p:sp>
      <p:sp>
        <p:nvSpPr>
          <p:cNvPr id="4" name="Text 2"/>
          <p:cNvSpPr/>
          <p:nvPr/>
        </p:nvSpPr>
        <p:spPr>
          <a:xfrm>
            <a:off x="793790" y="4219694"/>
            <a:ext cx="2845594" cy="1088708"/>
          </a:xfrm>
          <a:prstGeom prst="rect">
            <a:avLst/>
          </a:prstGeom>
          <a:noFill/>
          <a:ln/>
        </p:spPr>
        <p:txBody>
          <a:bodyPr wrap="square" lIns="0" tIns="0" rIns="0" bIns="0" rtlCol="0" anchor="t"/>
          <a:lstStyle/>
          <a:p>
            <a:pPr algn="l" indent="0" marL="0">
              <a:lnSpc>
                <a:spcPts val="2850"/>
              </a:lnSpc>
              <a:buNone/>
            </a:pPr>
            <a:r>
              <a:rPr lang="en-US" sz="1750" dirty="0">
                <a:solidFill>
                  <a:srgbClr val="D4D4D1"/>
                </a:solidFill>
                <a:latin typeface="Roboto" pitchFamily="34" charset="0"/>
                <a:ea typeface="Roboto" pitchFamily="34" charset="-122"/>
                <a:cs typeface="Roboto" pitchFamily="34" charset="-120"/>
              </a:rPr>
              <a:t>Automate parking fee calculation by entry and exit times.</a:t>
            </a:r>
            <a:endParaRPr lang="en-US" sz="1750" dirty="0"/>
          </a:p>
        </p:txBody>
      </p:sp>
      <p:sp>
        <p:nvSpPr>
          <p:cNvPr id="5" name="Text 3"/>
          <p:cNvSpPr/>
          <p:nvPr/>
        </p:nvSpPr>
        <p:spPr>
          <a:xfrm>
            <a:off x="4200406" y="3638550"/>
            <a:ext cx="2845594" cy="708660"/>
          </a:xfrm>
          <a:prstGeom prst="rect">
            <a:avLst/>
          </a:prstGeom>
          <a:noFill/>
          <a:ln/>
        </p:spPr>
        <p:txBody>
          <a:bodyPr wrap="square" lIns="0" tIns="0" rIns="0" bIns="0" rtlCol="0" anchor="t"/>
          <a:lstStyle/>
          <a:p>
            <a:pPr algn="l" indent="0" marL="0">
              <a:lnSpc>
                <a:spcPts val="2750"/>
              </a:lnSpc>
              <a:buNone/>
            </a:pPr>
            <a:r>
              <a:rPr lang="en-US" sz="2200" dirty="0">
                <a:solidFill>
                  <a:srgbClr val="F3F3F2"/>
                </a:solidFill>
                <a:latin typeface="IBM Plex Sans Medium" pitchFamily="34" charset="0"/>
                <a:ea typeface="IBM Plex Sans Medium" pitchFamily="34" charset="-122"/>
                <a:cs typeface="IBM Plex Sans Medium" pitchFamily="34" charset="-120"/>
              </a:rPr>
              <a:t>License Plate Recognition</a:t>
            </a:r>
            <a:endParaRPr lang="en-US" sz="2200" dirty="0"/>
          </a:p>
        </p:txBody>
      </p:sp>
      <p:sp>
        <p:nvSpPr>
          <p:cNvPr id="6" name="Text 4"/>
          <p:cNvSpPr/>
          <p:nvPr/>
        </p:nvSpPr>
        <p:spPr>
          <a:xfrm>
            <a:off x="4200406" y="4574024"/>
            <a:ext cx="2845594" cy="725805"/>
          </a:xfrm>
          <a:prstGeom prst="rect">
            <a:avLst/>
          </a:prstGeom>
          <a:noFill/>
          <a:ln/>
        </p:spPr>
        <p:txBody>
          <a:bodyPr wrap="square" lIns="0" tIns="0" rIns="0" bIns="0" rtlCol="0" anchor="t"/>
          <a:lstStyle/>
          <a:p>
            <a:pPr algn="l" indent="0" marL="0">
              <a:lnSpc>
                <a:spcPts val="2850"/>
              </a:lnSpc>
              <a:buNone/>
            </a:pPr>
            <a:r>
              <a:rPr lang="en-US" sz="1750" dirty="0">
                <a:solidFill>
                  <a:srgbClr val="D4D4D1"/>
                </a:solidFill>
                <a:latin typeface="Roboto" pitchFamily="34" charset="0"/>
                <a:ea typeface="Roboto" pitchFamily="34" charset="-122"/>
                <a:cs typeface="Roboto" pitchFamily="34" charset="-120"/>
              </a:rPr>
              <a:t>Integrate OCR for vehicle identification and security.</a:t>
            </a:r>
            <a:endParaRPr lang="en-US" sz="1750" dirty="0"/>
          </a:p>
        </p:txBody>
      </p:sp>
      <p:sp>
        <p:nvSpPr>
          <p:cNvPr id="7" name="Text 5"/>
          <p:cNvSpPr/>
          <p:nvPr/>
        </p:nvSpPr>
        <p:spPr>
          <a:xfrm>
            <a:off x="7607022" y="3638550"/>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F3F3F2"/>
                </a:solidFill>
                <a:latin typeface="IBM Plex Sans Medium" pitchFamily="34" charset="0"/>
                <a:ea typeface="IBM Plex Sans Medium" pitchFamily="34" charset="-122"/>
                <a:cs typeface="IBM Plex Sans Medium" pitchFamily="34" charset="-120"/>
              </a:rPr>
              <a:t>Real-Time Alerts</a:t>
            </a:r>
            <a:endParaRPr lang="en-US" sz="2200" dirty="0"/>
          </a:p>
        </p:txBody>
      </p:sp>
      <p:sp>
        <p:nvSpPr>
          <p:cNvPr id="8" name="Text 6"/>
          <p:cNvSpPr/>
          <p:nvPr/>
        </p:nvSpPr>
        <p:spPr>
          <a:xfrm>
            <a:off x="7607022" y="4219694"/>
            <a:ext cx="2845594" cy="1088708"/>
          </a:xfrm>
          <a:prstGeom prst="rect">
            <a:avLst/>
          </a:prstGeom>
          <a:noFill/>
          <a:ln/>
        </p:spPr>
        <p:txBody>
          <a:bodyPr wrap="square" lIns="0" tIns="0" rIns="0" bIns="0" rtlCol="0" anchor="t"/>
          <a:lstStyle/>
          <a:p>
            <a:pPr algn="l" indent="0" marL="0">
              <a:lnSpc>
                <a:spcPts val="2850"/>
              </a:lnSpc>
              <a:buNone/>
            </a:pPr>
            <a:r>
              <a:rPr lang="en-US" sz="1750" dirty="0">
                <a:solidFill>
                  <a:srgbClr val="D4D4D1"/>
                </a:solidFill>
                <a:latin typeface="Roboto" pitchFamily="34" charset="0"/>
                <a:ea typeface="Roboto" pitchFamily="34" charset="-122"/>
                <a:cs typeface="Roboto" pitchFamily="34" charset="-120"/>
              </a:rPr>
              <a:t>Send notifications for parking status and violations.</a:t>
            </a:r>
            <a:endParaRPr lang="en-US" sz="1750" dirty="0"/>
          </a:p>
        </p:txBody>
      </p:sp>
      <p:sp>
        <p:nvSpPr>
          <p:cNvPr id="9" name="Text 7"/>
          <p:cNvSpPr/>
          <p:nvPr/>
        </p:nvSpPr>
        <p:spPr>
          <a:xfrm>
            <a:off x="11013638" y="3638550"/>
            <a:ext cx="2845594" cy="708660"/>
          </a:xfrm>
          <a:prstGeom prst="rect">
            <a:avLst/>
          </a:prstGeom>
          <a:noFill/>
          <a:ln/>
        </p:spPr>
        <p:txBody>
          <a:bodyPr wrap="square" lIns="0" tIns="0" rIns="0" bIns="0" rtlCol="0" anchor="t"/>
          <a:lstStyle/>
          <a:p>
            <a:pPr algn="l" indent="0" marL="0">
              <a:lnSpc>
                <a:spcPts val="2750"/>
              </a:lnSpc>
              <a:buNone/>
            </a:pPr>
            <a:r>
              <a:rPr lang="en-US" sz="2200" dirty="0">
                <a:solidFill>
                  <a:srgbClr val="F3F3F2"/>
                </a:solidFill>
                <a:latin typeface="IBM Plex Sans Medium" pitchFamily="34" charset="0"/>
                <a:ea typeface="IBM Plex Sans Medium" pitchFamily="34" charset="-122"/>
                <a:cs typeface="IBM Plex Sans Medium" pitchFamily="34" charset="-120"/>
              </a:rPr>
              <a:t>IoT and Cloud Integration</a:t>
            </a:r>
            <a:endParaRPr lang="en-US" sz="2200" dirty="0"/>
          </a:p>
        </p:txBody>
      </p:sp>
      <p:sp>
        <p:nvSpPr>
          <p:cNvPr id="10" name="Text 8"/>
          <p:cNvSpPr/>
          <p:nvPr/>
        </p:nvSpPr>
        <p:spPr>
          <a:xfrm>
            <a:off x="11013638" y="4574024"/>
            <a:ext cx="2845594" cy="1088708"/>
          </a:xfrm>
          <a:prstGeom prst="rect">
            <a:avLst/>
          </a:prstGeom>
          <a:noFill/>
          <a:ln/>
        </p:spPr>
        <p:txBody>
          <a:bodyPr wrap="square" lIns="0" tIns="0" rIns="0" bIns="0" rtlCol="0" anchor="t"/>
          <a:lstStyle/>
          <a:p>
            <a:pPr algn="l" indent="0" marL="0">
              <a:lnSpc>
                <a:spcPts val="2850"/>
              </a:lnSpc>
              <a:buNone/>
            </a:pPr>
            <a:r>
              <a:rPr lang="en-US" sz="1750" dirty="0">
                <a:solidFill>
                  <a:srgbClr val="D4D4D1"/>
                </a:solidFill>
                <a:latin typeface="Roboto" pitchFamily="34" charset="0"/>
                <a:ea typeface="Roboto" pitchFamily="34" charset="-122"/>
                <a:cs typeface="Roboto" pitchFamily="34" charset="-120"/>
              </a:rPr>
              <a:t>Enable city-wide management and data analytics.</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2025-04-24T16:42:30Z</dcterms:created>
  <dcterms:modified xsi:type="dcterms:W3CDTF">2025-04-24T16:42:30Z</dcterms:modified>
</cp:coreProperties>
</file>